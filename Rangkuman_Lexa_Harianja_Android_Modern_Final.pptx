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3A8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8016" y="0"/>
            <a:ext cx="12060936" cy="109728"/>
          </a:xfrm>
          <a:prstGeom prst="rect">
            <a:avLst/>
          </a:prstGeom>
          <a:solidFill>
            <a:srgbClr val="D7E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092440" y="0"/>
            <a:ext cx="4096512" cy="6858000"/>
          </a:xfrm>
          <a:prstGeom prst="rect">
            <a:avLst/>
          </a:prstGeom>
          <a:solidFill>
            <a:srgbClr val="EAF6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522208" y="512064"/>
            <a:ext cx="3017520" cy="3017520"/>
          </a:xfrm>
          <a:prstGeom prst="ellipse">
            <a:avLst/>
          </a:prstGeom>
          <a:solidFill>
            <a:srgbClr val="D9EF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869680" y="3429000"/>
            <a:ext cx="2606040" cy="2606040"/>
          </a:xfrm>
          <a:prstGeom prst="ellipse">
            <a:avLst/>
          </a:prstGeom>
          <a:solidFill>
            <a:srgbClr val="D7E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76656" y="548640"/>
            <a:ext cx="3136392" cy="402336"/>
          </a:xfrm>
          <a:prstGeom prst="roundRect">
            <a:avLst/>
          </a:prstGeom>
          <a:solidFill>
            <a:srgbClr val="E0F5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12648"/>
            <a:ext cx="2926080" cy="274320"/>
          </a:xfrm>
          <a:prstGeom prst="rect">
            <a:avLst/>
          </a:prstGeom>
          <a:noFill/>
        </p:spPr>
        <p:txBody>
          <a:bodyPr wrap="square" lIns="36576" tIns="18288" rIns="27432">
            <a:spAutoFit/>
          </a:bodyPr>
          <a:lstStyle/>
          <a:p>
            <a:pPr>
              <a:spcAft>
                <a:spcPts val="400"/>
              </a:spcAft>
            </a:pPr>
            <a:r>
              <a:rPr sz="1200" b="1">
                <a:solidFill>
                  <a:srgbClr val="137F69"/>
                </a:solidFill>
                <a:latin typeface="Aptos Display"/>
              </a:rPr>
              <a:t>RANGKUMAN MODUL  •  BAB 01–06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207008"/>
            <a:ext cx="7406640" cy="1874519"/>
          </a:xfrm>
          <a:prstGeom prst="rect">
            <a:avLst/>
          </a:prstGeom>
          <a:noFill/>
        </p:spPr>
        <p:txBody>
          <a:bodyPr wrap="square" lIns="36576" tIns="18288" rIns="27432">
            <a:spAutoFit/>
          </a:bodyPr>
          <a:lstStyle/>
          <a:p>
            <a:pPr>
              <a:spcAft>
                <a:spcPts val="400"/>
              </a:spcAft>
            </a:pPr>
            <a:r>
              <a:rPr sz="3700" b="1">
                <a:solidFill>
                  <a:srgbClr val="153F59"/>
                </a:solidFill>
                <a:latin typeface="Aptos Display"/>
              </a:rPr>
              <a:t>PEMROGRAMAN</a:t>
            </a:r>
          </a:p>
          <a:p>
            <a:pPr>
              <a:spcAft>
                <a:spcPts val="400"/>
              </a:spcAft>
            </a:pPr>
            <a:r>
              <a:rPr sz="3700" b="1">
                <a:solidFill>
                  <a:srgbClr val="153F59"/>
                </a:solidFill>
                <a:latin typeface="Aptos Display"/>
              </a:rPr>
              <a:t>MOBILE ANDROID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0664" y="3328416"/>
            <a:ext cx="960120" cy="68580"/>
          </a:xfrm>
          <a:prstGeom prst="rect">
            <a:avLst/>
          </a:prstGeom>
          <a:solidFill>
            <a:srgbClr val="23A8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3547872"/>
            <a:ext cx="7040880" cy="731520"/>
          </a:xfrm>
          <a:prstGeom prst="rect">
            <a:avLst/>
          </a:prstGeom>
          <a:noFill/>
        </p:spPr>
        <p:txBody>
          <a:bodyPr wrap="square" lIns="36576" tIns="18288" rIns="27432">
            <a:spAutoFit/>
          </a:bodyPr>
          <a:lstStyle/>
          <a:p>
            <a:pPr>
              <a:spcAft>
                <a:spcPts val="400"/>
              </a:spcAft>
            </a:pPr>
            <a:r>
              <a:rPr sz="2000" b="0">
                <a:solidFill>
                  <a:srgbClr val="587082"/>
                </a:solidFill>
                <a:latin typeface="Aptos Display"/>
              </a:rPr>
              <a:t>Pengembangan aplikasi Android dengan Java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04088" y="4590288"/>
            <a:ext cx="7159752" cy="143560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04088" y="4590288"/>
            <a:ext cx="100584" cy="1435608"/>
          </a:xfrm>
          <a:prstGeom prst="rect">
            <a:avLst/>
          </a:prstGeom>
          <a:solidFill>
            <a:srgbClr val="23A8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78408" y="4745736"/>
            <a:ext cx="6309360" cy="393192"/>
          </a:xfrm>
          <a:prstGeom prst="rect">
            <a:avLst/>
          </a:prstGeom>
          <a:noFill/>
        </p:spPr>
        <p:txBody>
          <a:bodyPr wrap="square" lIns="36576" tIns="18288" rIns="27432">
            <a:spAutoFit/>
          </a:bodyPr>
          <a:lstStyle/>
          <a:p>
            <a:pPr>
              <a:spcAft>
                <a:spcPts val="400"/>
              </a:spcAft>
            </a:pPr>
            <a:r>
              <a:rPr sz="2200" b="1">
                <a:solidFill>
                  <a:srgbClr val="17354A"/>
                </a:solidFill>
                <a:latin typeface="Aptos Display"/>
              </a:rPr>
              <a:t>LEXA HARIANJA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8408" y="5175504"/>
            <a:ext cx="6355080" cy="685800"/>
          </a:xfrm>
          <a:prstGeom prst="rect">
            <a:avLst/>
          </a:prstGeom>
          <a:noFill/>
        </p:spPr>
        <p:txBody>
          <a:bodyPr wrap="square" lIns="36576" tIns="18288" rIns="27432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587082"/>
                </a:solidFill>
                <a:latin typeface="Aptos Display"/>
              </a:rPr>
              <a:t>NIM: 2302233   •   Mata Kuliah: Pemrograman Web II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587082"/>
                </a:solidFill>
                <a:latin typeface="Aptos Display"/>
              </a:rPr>
              <a:t>Dosen Pengampu: Abdi Rahim Damanik, M.Kom.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59368" y="1106424"/>
            <a:ext cx="2359152" cy="4343400"/>
          </a:xfrm>
          <a:prstGeom prst="roundRect">
            <a:avLst/>
          </a:prstGeom>
          <a:solidFill>
            <a:srgbClr val="163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796528" y="1316736"/>
            <a:ext cx="2084831" cy="386791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491472" y="1216152"/>
            <a:ext cx="713232" cy="68580"/>
          </a:xfrm>
          <a:prstGeom prst="rect">
            <a:avLst/>
          </a:prstGeom>
          <a:solidFill>
            <a:srgbClr val="6C89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006840" y="1627632"/>
            <a:ext cx="1673352" cy="713232"/>
          </a:xfrm>
          <a:prstGeom prst="roundRect">
            <a:avLst/>
          </a:prstGeom>
          <a:solidFill>
            <a:srgbClr val="DD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62872" y="1865376"/>
            <a:ext cx="1371600" cy="310896"/>
          </a:xfrm>
          <a:prstGeom prst="rect">
            <a:avLst/>
          </a:prstGeom>
          <a:noFill/>
        </p:spPr>
        <p:txBody>
          <a:bodyPr wrap="square" lIns="36576" tIns="18288" r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2300" b="1">
                <a:solidFill>
                  <a:srgbClr val="16886F"/>
                </a:solidFill>
                <a:latin typeface="Aptos Display"/>
              </a:rPr>
              <a:t>&lt;/&gt;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15984" y="2578608"/>
            <a:ext cx="1664208" cy="384048"/>
          </a:xfrm>
          <a:prstGeom prst="roundRect">
            <a:avLst/>
          </a:prstGeom>
          <a:solidFill>
            <a:srgbClr val="E4F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71432" y="2638044"/>
            <a:ext cx="1417320" cy="237744"/>
          </a:xfrm>
          <a:prstGeom prst="rect">
            <a:avLst/>
          </a:prstGeom>
          <a:noFill/>
        </p:spPr>
        <p:txBody>
          <a:bodyPr wrap="square" lIns="36576" tIns="18288" rIns="27432">
            <a:spAutoFit/>
          </a:bodyPr>
          <a:lstStyle/>
          <a:p>
            <a:pPr>
              <a:spcAft>
                <a:spcPts val="400"/>
              </a:spcAft>
            </a:pPr>
            <a:r>
              <a:rPr sz="1300" b="1">
                <a:solidFill>
                  <a:srgbClr val="153F59"/>
                </a:solidFill>
                <a:latin typeface="Aptos Display"/>
              </a:rPr>
              <a:t>Activity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15984" y="3118103"/>
            <a:ext cx="1664208" cy="384048"/>
          </a:xfrm>
          <a:prstGeom prst="roundRect">
            <a:avLst/>
          </a:prstGeom>
          <a:solidFill>
            <a:srgbClr val="E5F6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71432" y="3177539"/>
            <a:ext cx="1417320" cy="237744"/>
          </a:xfrm>
          <a:prstGeom prst="rect">
            <a:avLst/>
          </a:prstGeom>
          <a:noFill/>
        </p:spPr>
        <p:txBody>
          <a:bodyPr wrap="square" lIns="36576" tIns="18288" rIns="27432">
            <a:spAutoFit/>
          </a:bodyPr>
          <a:lstStyle/>
          <a:p>
            <a:pPr>
              <a:spcAft>
                <a:spcPts val="400"/>
              </a:spcAft>
            </a:pPr>
            <a:r>
              <a:rPr sz="1300" b="1">
                <a:solidFill>
                  <a:srgbClr val="153F59"/>
                </a:solidFill>
                <a:latin typeface="Aptos Display"/>
              </a:rPr>
              <a:t>Intent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015984" y="3657600"/>
            <a:ext cx="1664208" cy="384048"/>
          </a:xfrm>
          <a:prstGeom prst="roundRect">
            <a:avLst/>
          </a:prstGeom>
          <a:solidFill>
            <a:srgbClr val="E4F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71432" y="3717036"/>
            <a:ext cx="1417320" cy="237744"/>
          </a:xfrm>
          <a:prstGeom prst="rect">
            <a:avLst/>
          </a:prstGeom>
          <a:noFill/>
        </p:spPr>
        <p:txBody>
          <a:bodyPr wrap="square" lIns="36576" tIns="18288" rIns="27432">
            <a:spAutoFit/>
          </a:bodyPr>
          <a:lstStyle/>
          <a:p>
            <a:pPr>
              <a:spcAft>
                <a:spcPts val="400"/>
              </a:spcAft>
            </a:pPr>
            <a:r>
              <a:rPr sz="1300" b="1">
                <a:solidFill>
                  <a:srgbClr val="153F59"/>
                </a:solidFill>
                <a:latin typeface="Aptos Display"/>
              </a:rPr>
              <a:t>UI / UX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15984" y="4197096"/>
            <a:ext cx="1664208" cy="384048"/>
          </a:xfrm>
          <a:prstGeom prst="roundRect">
            <a:avLst/>
          </a:prstGeom>
          <a:solidFill>
            <a:srgbClr val="E5F6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71432" y="4256532"/>
            <a:ext cx="1417320" cy="237744"/>
          </a:xfrm>
          <a:prstGeom prst="rect">
            <a:avLst/>
          </a:prstGeom>
          <a:noFill/>
        </p:spPr>
        <p:txBody>
          <a:bodyPr wrap="square" lIns="36576" tIns="18288" rIns="27432">
            <a:spAutoFit/>
          </a:bodyPr>
          <a:lstStyle/>
          <a:p>
            <a:pPr>
              <a:spcAft>
                <a:spcPts val="400"/>
              </a:spcAft>
            </a:pPr>
            <a:r>
              <a:rPr sz="1300" b="1">
                <a:solidFill>
                  <a:srgbClr val="153F59"/>
                </a:solidFill>
                <a:latin typeface="Aptos Display"/>
              </a:rPr>
              <a:t>Firebase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582912" y="4956048"/>
            <a:ext cx="411480" cy="64008"/>
          </a:xfrm>
          <a:prstGeom prst="roundRect">
            <a:avLst/>
          </a:prstGeom>
          <a:solidFill>
            <a:srgbClr val="93B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9808" y="6309360"/>
            <a:ext cx="7132320" cy="274320"/>
          </a:xfrm>
          <a:prstGeom prst="rect">
            <a:avLst/>
          </a:prstGeom>
          <a:noFill/>
        </p:spPr>
        <p:txBody>
          <a:bodyPr wrap="square" lIns="36576" tIns="18288" rIns="27432">
            <a:spAutoFit/>
          </a:bodyPr>
          <a:lstStyle/>
          <a:p>
            <a:pPr>
              <a:spcAft>
                <a:spcPts val="400"/>
              </a:spcAft>
            </a:pPr>
            <a:r>
              <a:rPr sz="1100" b="0">
                <a:solidFill>
                  <a:srgbClr val="587082"/>
                </a:solidFill>
                <a:latin typeface="Aptos Display"/>
              </a:rPr>
              <a:t>Sumber: Erma Susanti (2020)  •  Pemrograman Mobile Android dengan Java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89720" y="6080760"/>
            <a:ext cx="2011680" cy="384048"/>
          </a:xfrm>
          <a:prstGeom prst="rect">
            <a:avLst/>
          </a:prstGeom>
          <a:noFill/>
        </p:spPr>
        <p:txBody>
          <a:bodyPr wrap="square" lIns="36576" tIns="18288" r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137F69"/>
                </a:solidFill>
                <a:latin typeface="Aptos Display"/>
              </a:rPr>
              <a:t>ANDROID  •  JAVA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8FCDB3"/>
          </a:solidFill>
          <a:ln w="12700">
            <a:solidFill>
              <a:srgbClr val="A0BEAC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9875520" y="-1645920"/>
            <a:ext cx="4114800" cy="4114800"/>
          </a:xfrm>
          <a:prstGeom prst="ellipse">
            <a:avLst/>
          </a:prstGeom>
          <a:solidFill>
            <a:srgbClr val="E9F8F2"/>
          </a:solidFill>
          <a:ln w="12700">
            <a:solidFill>
              <a:srgbClr val="EDF3F0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10789920" y="-731520"/>
            <a:ext cx="2194560" cy="2194560"/>
          </a:xfrm>
          <a:prstGeom prst="ellipse">
            <a:avLst/>
          </a:prstGeom>
          <a:solidFill>
            <a:srgbClr val="E9F3FB"/>
          </a:solidFill>
          <a:ln w="12700">
            <a:solidFill>
              <a:srgbClr val="E4E9F7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02920" y="6327648"/>
            <a:ext cx="11064240" cy="0"/>
          </a:xfrm>
          <a:prstGeom prst="line">
            <a:avLst/>
          </a:prstGeom>
          <a:solidFill>
            <a:srgbClr val="F9FCFD"/>
          </a:solidFill>
          <a:ln w="12700">
            <a:solidFill>
              <a:srgbClr val="1B344B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30352" y="283464"/>
            <a:ext cx="64008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30" kern="0" dirty="0">
                <a:solidFill>
                  <a:srgbClr val="137F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ANDROID  /  JAVA  /  MOBILE DEVELOPMENT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30352" y="731520"/>
            <a:ext cx="10744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735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Enam bab, satu alur pengembangan</a:t>
            </a:r>
            <a:endParaRPr lang="en-US" sz="2900" dirty="0"/>
          </a:p>
        </p:txBody>
      </p:sp>
      <p:sp>
        <p:nvSpPr>
          <p:cNvPr id="8" name="Text 6"/>
          <p:cNvSpPr/>
          <p:nvPr/>
        </p:nvSpPr>
        <p:spPr>
          <a:xfrm>
            <a:off x="539496" y="1389888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870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Dari mengenal Android hingga menyimpan data aplikasi secara online.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48640" y="6483096"/>
            <a:ext cx="8229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5870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PETA MATERI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11128248" y="6446520"/>
            <a:ext cx="5029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137F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40080" y="1947672"/>
            <a:ext cx="3557016" cy="1371600"/>
          </a:xfrm>
          <a:prstGeom prst="roundRect">
            <a:avLst/>
          </a:prstGeom>
          <a:solidFill>
            <a:srgbClr val="F9FCFD"/>
          </a:solidFill>
          <a:ln w="12700">
            <a:solidFill>
              <a:srgbClr val="1B344B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813816" y="2167128"/>
            <a:ext cx="50292" cy="320040"/>
          </a:xfrm>
          <a:prstGeom prst="rect">
            <a:avLst/>
          </a:prstGeom>
          <a:solidFill>
            <a:srgbClr val="137F69"/>
          </a:solidFill>
          <a:ln w="12700">
            <a:solidFill>
              <a:srgbClr val="467E73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996696" y="2148840"/>
            <a:ext cx="2990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37F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  Pengenalan Android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896112" y="2651760"/>
            <a:ext cx="3054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735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Topik inti pada modul 01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4480560" y="1947672"/>
            <a:ext cx="3557016" cy="1371600"/>
          </a:xfrm>
          <a:prstGeom prst="roundRect">
            <a:avLst/>
          </a:prstGeom>
          <a:solidFill>
            <a:srgbClr val="F9FCFD"/>
          </a:solidFill>
          <a:ln w="12700">
            <a:solidFill>
              <a:srgbClr val="1B344B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4654296" y="2167128"/>
            <a:ext cx="50292" cy="320040"/>
          </a:xfrm>
          <a:prstGeom prst="rect">
            <a:avLst/>
          </a:prstGeom>
          <a:solidFill>
            <a:srgbClr val="1586C9"/>
          </a:solidFill>
          <a:ln w="12700">
            <a:solidFill>
              <a:srgbClr val="54B6F3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4837176" y="2148840"/>
            <a:ext cx="2990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586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  Activity, Intent, Fragment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4736592" y="2651760"/>
            <a:ext cx="3054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735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Topik inti pada modul 02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8321040" y="1947672"/>
            <a:ext cx="3557016" cy="1371600"/>
          </a:xfrm>
          <a:prstGeom prst="roundRect">
            <a:avLst/>
          </a:prstGeom>
          <a:solidFill>
            <a:srgbClr val="F9FCFD"/>
          </a:solidFill>
          <a:ln w="12700">
            <a:solidFill>
              <a:srgbClr val="1B344B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8494776" y="2167128"/>
            <a:ext cx="50292" cy="320040"/>
          </a:xfrm>
          <a:prstGeom prst="rect">
            <a:avLst/>
          </a:prstGeom>
          <a:solidFill>
            <a:srgbClr val="137F69"/>
          </a:solidFill>
          <a:ln w="12700">
            <a:solidFill>
              <a:srgbClr val="467E73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8677656" y="2148840"/>
            <a:ext cx="2990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37F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 Antarmuka UI/UX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8577072" y="2651760"/>
            <a:ext cx="3054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735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Topik inti pada modul 03</a:t>
            </a:r>
            <a:endParaRPr lang="en-US" sz="1450" dirty="0"/>
          </a:p>
        </p:txBody>
      </p:sp>
      <p:sp>
        <p:nvSpPr>
          <p:cNvPr id="23" name="Shape 21"/>
          <p:cNvSpPr/>
          <p:nvPr/>
        </p:nvSpPr>
        <p:spPr>
          <a:xfrm>
            <a:off x="640080" y="3611880"/>
            <a:ext cx="3557016" cy="1371600"/>
          </a:xfrm>
          <a:prstGeom prst="roundRect">
            <a:avLst/>
          </a:prstGeom>
          <a:solidFill>
            <a:srgbClr val="F9FCFD"/>
          </a:solidFill>
          <a:ln w="12700">
            <a:solidFill>
              <a:srgbClr val="1B344B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813816" y="3831336"/>
            <a:ext cx="50292" cy="320040"/>
          </a:xfrm>
          <a:prstGeom prst="rect">
            <a:avLst/>
          </a:prstGeom>
          <a:solidFill>
            <a:srgbClr val="1586C9"/>
          </a:solidFill>
          <a:ln w="12700">
            <a:solidFill>
              <a:srgbClr val="54B6F3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996696" y="3813048"/>
            <a:ext cx="2990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586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  Background Task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896112" y="4315968"/>
            <a:ext cx="3054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735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Topik inti pada modul 04</a:t>
            </a:r>
            <a:endParaRPr lang="en-US" sz="1450" dirty="0"/>
          </a:p>
        </p:txBody>
      </p:sp>
      <p:sp>
        <p:nvSpPr>
          <p:cNvPr id="27" name="Shape 25"/>
          <p:cNvSpPr/>
          <p:nvPr/>
        </p:nvSpPr>
        <p:spPr>
          <a:xfrm>
            <a:off x="4480560" y="3611880"/>
            <a:ext cx="3557016" cy="1371600"/>
          </a:xfrm>
          <a:prstGeom prst="roundRect">
            <a:avLst/>
          </a:prstGeom>
          <a:solidFill>
            <a:srgbClr val="F9FCFD"/>
          </a:solidFill>
          <a:ln w="12700">
            <a:solidFill>
              <a:srgbClr val="1B344B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4654296" y="3831336"/>
            <a:ext cx="50292" cy="320040"/>
          </a:xfrm>
          <a:prstGeom prst="rect">
            <a:avLst/>
          </a:prstGeom>
          <a:solidFill>
            <a:srgbClr val="137F69"/>
          </a:solidFill>
          <a:ln w="12700">
            <a:solidFill>
              <a:srgbClr val="467E73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4837176" y="3813048"/>
            <a:ext cx="2990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37F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  Penyimpanan Lokal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4736592" y="4315968"/>
            <a:ext cx="3054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735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Topik inti pada modul 05</a:t>
            </a:r>
            <a:endParaRPr lang="en-US" sz="1450" dirty="0"/>
          </a:p>
        </p:txBody>
      </p:sp>
      <p:sp>
        <p:nvSpPr>
          <p:cNvPr id="31" name="Shape 29"/>
          <p:cNvSpPr/>
          <p:nvPr/>
        </p:nvSpPr>
        <p:spPr>
          <a:xfrm>
            <a:off x="8321040" y="3611880"/>
            <a:ext cx="3557016" cy="1371600"/>
          </a:xfrm>
          <a:prstGeom prst="roundRect">
            <a:avLst/>
          </a:prstGeom>
          <a:solidFill>
            <a:srgbClr val="F9FCFD"/>
          </a:solidFill>
          <a:ln w="12700">
            <a:solidFill>
              <a:srgbClr val="1B344B"/>
            </a:solidFill>
            <a:prstDash val="solid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8494776" y="3831336"/>
            <a:ext cx="50292" cy="320040"/>
          </a:xfrm>
          <a:prstGeom prst="rect">
            <a:avLst/>
          </a:prstGeom>
          <a:solidFill>
            <a:srgbClr val="1586C9"/>
          </a:solidFill>
          <a:ln w="12700">
            <a:solidFill>
              <a:srgbClr val="54B6F3"/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8677656" y="3813048"/>
            <a:ext cx="2990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586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  Firebase Realtime Database</a:t>
            </a:r>
            <a:endParaRPr lang="en-US" sz="1700" dirty="0"/>
          </a:p>
        </p:txBody>
      </p:sp>
      <p:sp>
        <p:nvSpPr>
          <p:cNvPr id="34" name="Text 32"/>
          <p:cNvSpPr/>
          <p:nvPr/>
        </p:nvSpPr>
        <p:spPr>
          <a:xfrm>
            <a:off x="8577072" y="4315968"/>
            <a:ext cx="3054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735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Topik inti pada modul 06</a:t>
            </a:r>
            <a:endParaRPr lang="en-US" sz="1450" dirty="0"/>
          </a:p>
        </p:txBody>
      </p:sp>
      <p:sp>
        <p:nvSpPr>
          <p:cNvPr id="35" name="Oval 34"/>
          <p:cNvSpPr/>
          <p:nvPr/>
        </p:nvSpPr>
        <p:spPr>
          <a:xfrm>
            <a:off x="11475720" y="6053328"/>
            <a:ext cx="384048" cy="384048"/>
          </a:xfrm>
          <a:prstGeom prst="ellipse">
            <a:avLst/>
          </a:prstGeom>
          <a:solidFill>
            <a:srgbClr val="D1ED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8FCDB3"/>
          </a:solidFill>
          <a:ln w="12700">
            <a:solidFill>
              <a:srgbClr val="A0BEAC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9875520" y="-1645920"/>
            <a:ext cx="4114800" cy="4114800"/>
          </a:xfrm>
          <a:prstGeom prst="ellipse">
            <a:avLst/>
          </a:prstGeom>
          <a:solidFill>
            <a:srgbClr val="E9F8F2"/>
          </a:solidFill>
          <a:ln w="12700">
            <a:solidFill>
              <a:srgbClr val="EDF3F0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10789920" y="-731520"/>
            <a:ext cx="2194560" cy="2194560"/>
          </a:xfrm>
          <a:prstGeom prst="ellipse">
            <a:avLst/>
          </a:prstGeom>
          <a:solidFill>
            <a:srgbClr val="E9F3FB"/>
          </a:solidFill>
          <a:ln w="12700">
            <a:solidFill>
              <a:srgbClr val="E4E9F7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02920" y="6327648"/>
            <a:ext cx="11064240" cy="0"/>
          </a:xfrm>
          <a:prstGeom prst="line">
            <a:avLst/>
          </a:prstGeom>
          <a:solidFill>
            <a:srgbClr val="F9FCFD"/>
          </a:solidFill>
          <a:ln w="12700">
            <a:solidFill>
              <a:srgbClr val="1B344B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30352" y="283464"/>
            <a:ext cx="64008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30" kern="0" dirty="0">
                <a:solidFill>
                  <a:srgbClr val="137F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ANDROID  /  JAVA  /  MOBILE DEVELOPMENT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30352" y="731520"/>
            <a:ext cx="10744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735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Apa itu Android?</a:t>
            </a:r>
            <a:endParaRPr lang="en-US" sz="2900" dirty="0"/>
          </a:p>
        </p:txBody>
      </p:sp>
      <p:sp>
        <p:nvSpPr>
          <p:cNvPr id="8" name="Text 6"/>
          <p:cNvSpPr/>
          <p:nvPr/>
        </p:nvSpPr>
        <p:spPr>
          <a:xfrm>
            <a:off x="539496" y="1389888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870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Android merupakan sistem operasi mobile berbasis kernel Linux dan bersifat open source.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48640" y="6483096"/>
            <a:ext cx="8229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5870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BAB 1 • PENGENALAN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11128248" y="6446520"/>
            <a:ext cx="5029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137F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40080" y="2011680"/>
            <a:ext cx="3474720" cy="3054096"/>
          </a:xfrm>
          <a:prstGeom prst="roundRect">
            <a:avLst/>
          </a:prstGeom>
          <a:solidFill>
            <a:srgbClr val="F9FCFD"/>
          </a:solidFill>
          <a:ln w="12700">
            <a:solidFill>
              <a:srgbClr val="1B344B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813816" y="2231136"/>
            <a:ext cx="50292" cy="320040"/>
          </a:xfrm>
          <a:prstGeom prst="rect">
            <a:avLst/>
          </a:prstGeom>
          <a:solidFill>
            <a:srgbClr val="137F69"/>
          </a:solidFill>
          <a:ln w="12700">
            <a:solidFill>
              <a:srgbClr val="467E73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996696" y="2212848"/>
            <a:ext cx="29077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37F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Sifat utama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896112" y="2715768"/>
            <a:ext cx="2971800" cy="22311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735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Sistem operasi berbasis Linux, bersifat terbuka, dan mendukung beragam bentuk perangkat.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4343400" y="2011680"/>
            <a:ext cx="3474720" cy="3054096"/>
          </a:xfrm>
          <a:prstGeom prst="roundRect">
            <a:avLst/>
          </a:prstGeom>
          <a:solidFill>
            <a:srgbClr val="F9FCFD"/>
          </a:solidFill>
          <a:ln w="12700">
            <a:solidFill>
              <a:srgbClr val="1B344B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4517136" y="2231136"/>
            <a:ext cx="50292" cy="320040"/>
          </a:xfrm>
          <a:prstGeom prst="rect">
            <a:avLst/>
          </a:prstGeom>
          <a:solidFill>
            <a:srgbClr val="1586C9"/>
          </a:solidFill>
          <a:ln w="12700">
            <a:solidFill>
              <a:srgbClr val="54B6F3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4700016" y="2212848"/>
            <a:ext cx="29077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586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Interaksi pengguna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4599432" y="2715768"/>
            <a:ext cx="2971800" cy="22311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735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Interaksi melalui sentuhan seperti tap, swipe, dan pinch; mendukung sensor serta perangkat tambahan.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8823960" y="1783080"/>
            <a:ext cx="1965960" cy="4078224"/>
          </a:xfrm>
          <a:prstGeom prst="roundRect">
            <a:avLst/>
          </a:prstGeom>
          <a:solidFill>
            <a:srgbClr val="050B13"/>
          </a:solidFill>
          <a:ln w="12700">
            <a:solidFill>
              <a:srgbClr val="54B6F3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8961120" y="2039112"/>
            <a:ext cx="1691640" cy="3566160"/>
          </a:xfrm>
          <a:prstGeom prst="roundRect">
            <a:avLst/>
          </a:prstGeom>
          <a:solidFill>
            <a:srgbClr val="153F59"/>
          </a:solidFill>
          <a:ln w="12700">
            <a:solidFill>
              <a:srgbClr val="143650"/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9551365" y="1883664"/>
            <a:ext cx="511150" cy="68580"/>
          </a:xfrm>
          <a:prstGeom prst="roundRect">
            <a:avLst/>
          </a:prstGeom>
          <a:solidFill>
            <a:srgbClr val="587082"/>
          </a:solidFill>
          <a:ln w="12700">
            <a:solidFill>
              <a:srgbClr val="637581"/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9162288" y="2423160"/>
            <a:ext cx="1289304" cy="347472"/>
          </a:xfrm>
          <a:prstGeom prst="roundRect">
            <a:avLst/>
          </a:prstGeom>
          <a:solidFill>
            <a:srgbClr val="8FCDB3"/>
          </a:solidFill>
          <a:ln w="12700">
            <a:solidFill>
              <a:srgbClr val="A0BEAC"/>
            </a:solidFill>
            <a:prstDash val="solid"/>
          </a:ln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9162288" y="2980944"/>
            <a:ext cx="1289304" cy="274320"/>
          </a:xfrm>
          <a:prstGeom prst="roundRect">
            <a:avLst/>
          </a:prstGeom>
          <a:solidFill>
            <a:srgbClr val="176B91"/>
          </a:solidFill>
          <a:ln w="12700">
            <a:solidFill>
              <a:srgbClr val="3E7192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9162288" y="3429000"/>
            <a:ext cx="1289304" cy="274320"/>
          </a:xfrm>
          <a:prstGeom prst="roundRect">
            <a:avLst/>
          </a:prstGeom>
          <a:solidFill>
            <a:srgbClr val="176B91"/>
          </a:solidFill>
          <a:ln w="12700">
            <a:solidFill>
              <a:srgbClr val="3E7192"/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9162288" y="3877056"/>
            <a:ext cx="1289304" cy="274320"/>
          </a:xfrm>
          <a:prstGeom prst="roundRect">
            <a:avLst/>
          </a:prstGeom>
          <a:solidFill>
            <a:srgbClr val="176B91"/>
          </a:solidFill>
          <a:ln w="12700">
            <a:solidFill>
              <a:srgbClr val="3E7192"/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9720072" y="5650992"/>
            <a:ext cx="173736" cy="82296"/>
          </a:xfrm>
          <a:prstGeom prst="ellipse">
            <a:avLst/>
          </a:prstGeom>
          <a:solidFill>
            <a:srgbClr val="587082"/>
          </a:solidFill>
          <a:ln w="12700">
            <a:solidFill>
              <a:srgbClr val="637581"/>
            </a:solidFill>
            <a:prstDash val="solid"/>
          </a:ln>
        </p:spPr>
        <p:txBody>
          <a:bodyPr/>
          <a:p/>
        </p:txBody>
      </p:sp>
      <p:sp>
        <p:nvSpPr>
          <p:cNvPr id="27" name="Oval 26"/>
          <p:cNvSpPr/>
          <p:nvPr/>
        </p:nvSpPr>
        <p:spPr>
          <a:xfrm>
            <a:off x="11475720" y="6053328"/>
            <a:ext cx="384048" cy="384048"/>
          </a:xfrm>
          <a:prstGeom prst="ellipse">
            <a:avLst/>
          </a:prstGeom>
          <a:solidFill>
            <a:srgbClr val="D1ED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8FCDB3"/>
          </a:solidFill>
          <a:ln w="12700">
            <a:solidFill>
              <a:srgbClr val="A0BEAC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9875520" y="-1645920"/>
            <a:ext cx="4114800" cy="4114800"/>
          </a:xfrm>
          <a:prstGeom prst="ellipse">
            <a:avLst/>
          </a:prstGeom>
          <a:solidFill>
            <a:srgbClr val="E9F8F2"/>
          </a:solidFill>
          <a:ln w="12700">
            <a:solidFill>
              <a:srgbClr val="EDF3F0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10789920" y="-731520"/>
            <a:ext cx="2194560" cy="2194560"/>
          </a:xfrm>
          <a:prstGeom prst="ellipse">
            <a:avLst/>
          </a:prstGeom>
          <a:solidFill>
            <a:srgbClr val="E9F3FB"/>
          </a:solidFill>
          <a:ln w="12700">
            <a:solidFill>
              <a:srgbClr val="E4E9F7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02920" y="6327648"/>
            <a:ext cx="11064240" cy="0"/>
          </a:xfrm>
          <a:prstGeom prst="line">
            <a:avLst/>
          </a:prstGeom>
          <a:solidFill>
            <a:srgbClr val="F9FCFD"/>
          </a:solidFill>
          <a:ln w="12700">
            <a:solidFill>
              <a:srgbClr val="1B344B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30352" y="283464"/>
            <a:ext cx="64008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30" kern="0" dirty="0">
                <a:solidFill>
                  <a:srgbClr val="137F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ANDROID  /  JAVA  /  MOBILE DEVELOPMENT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30352" y="731520"/>
            <a:ext cx="10744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735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Arsitektur platform Android</a:t>
            </a:r>
            <a:endParaRPr lang="en-US" sz="2900" dirty="0"/>
          </a:p>
        </p:txBody>
      </p:sp>
      <p:sp>
        <p:nvSpPr>
          <p:cNvPr id="8" name="Text 6"/>
          <p:cNvSpPr/>
          <p:nvPr/>
        </p:nvSpPr>
        <p:spPr>
          <a:xfrm>
            <a:off x="539496" y="1389888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870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Tumpukan perangkat lunak Android memiliki komponen yang saling melengkapi.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48640" y="6483096"/>
            <a:ext cx="8229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5870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BAB 1 • PENGENALAN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11128248" y="6446520"/>
            <a:ext cx="5029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137F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822960" y="2103120"/>
            <a:ext cx="109728" cy="109728"/>
          </a:xfrm>
          <a:prstGeom prst="ellipse">
            <a:avLst/>
          </a:prstGeom>
          <a:solidFill>
            <a:srgbClr val="8FCDB3"/>
          </a:solidFill>
          <a:ln w="12700">
            <a:solidFill>
              <a:srgbClr val="A0BEAC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1115568" y="2011680"/>
            <a:ext cx="10314432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735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Linux Kernel: pengelolaan memori, thread, keamanan, dan driver.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822960" y="2724912"/>
            <a:ext cx="109728" cy="109728"/>
          </a:xfrm>
          <a:prstGeom prst="ellipse">
            <a:avLst/>
          </a:prstGeom>
          <a:solidFill>
            <a:srgbClr val="8FCDB3"/>
          </a:solidFill>
          <a:ln w="12700">
            <a:solidFill>
              <a:srgbClr val="A0BEAC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1115568" y="2633472"/>
            <a:ext cx="10314432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735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HAL: antarmuka standar terhadap fitur perangkat keras.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822960" y="3346704"/>
            <a:ext cx="109728" cy="109728"/>
          </a:xfrm>
          <a:prstGeom prst="ellipse">
            <a:avLst/>
          </a:prstGeom>
          <a:solidFill>
            <a:srgbClr val="8FCDB3"/>
          </a:solidFill>
          <a:ln w="12700">
            <a:solidFill>
              <a:srgbClr val="A0BEAC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1115568" y="3255264"/>
            <a:ext cx="10314432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735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Android Runtime (ART) dan pustaka C/C++ mendukung eksekusi aplikasi.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822960" y="3968496"/>
            <a:ext cx="109728" cy="109728"/>
          </a:xfrm>
          <a:prstGeom prst="ellipse">
            <a:avLst/>
          </a:prstGeom>
          <a:solidFill>
            <a:srgbClr val="8FCDB3"/>
          </a:solidFill>
          <a:ln w="12700">
            <a:solidFill>
              <a:srgbClr val="A0BEAC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1115568" y="3877056"/>
            <a:ext cx="10314432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735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Java API Framework menyediakan API sistem untuk pengembang.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822960" y="4590288"/>
            <a:ext cx="109728" cy="109728"/>
          </a:xfrm>
          <a:prstGeom prst="ellipse">
            <a:avLst/>
          </a:prstGeom>
          <a:solidFill>
            <a:srgbClr val="8FCDB3"/>
          </a:solidFill>
          <a:ln w="12700">
            <a:solidFill>
              <a:srgbClr val="A0BEAC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1115568" y="4498848"/>
            <a:ext cx="10314432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735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System Apps menyediakan fungsi dasar yang dapat dimanfaatkan aplikasi.</a:t>
            </a:r>
            <a:endParaRPr lang="en-US" sz="1800" dirty="0"/>
          </a:p>
        </p:txBody>
      </p:sp>
      <p:sp>
        <p:nvSpPr>
          <p:cNvPr id="21" name="Oval 20"/>
          <p:cNvSpPr/>
          <p:nvPr/>
        </p:nvSpPr>
        <p:spPr>
          <a:xfrm>
            <a:off x="11475720" y="6053328"/>
            <a:ext cx="384048" cy="384048"/>
          </a:xfrm>
          <a:prstGeom prst="ellipse">
            <a:avLst/>
          </a:prstGeom>
          <a:solidFill>
            <a:srgbClr val="D1ED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8FCDB3"/>
          </a:solidFill>
          <a:ln w="12700">
            <a:solidFill>
              <a:srgbClr val="A0BEAC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9875520" y="-1645920"/>
            <a:ext cx="4114800" cy="4114800"/>
          </a:xfrm>
          <a:prstGeom prst="ellipse">
            <a:avLst/>
          </a:prstGeom>
          <a:solidFill>
            <a:srgbClr val="E9F8F2"/>
          </a:solidFill>
          <a:ln w="12700">
            <a:solidFill>
              <a:srgbClr val="EDF3F0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10789920" y="-731520"/>
            <a:ext cx="2194560" cy="2194560"/>
          </a:xfrm>
          <a:prstGeom prst="ellipse">
            <a:avLst/>
          </a:prstGeom>
          <a:solidFill>
            <a:srgbClr val="E9F3FB"/>
          </a:solidFill>
          <a:ln w="12700">
            <a:solidFill>
              <a:srgbClr val="E4E9F7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02920" y="6327648"/>
            <a:ext cx="11064240" cy="0"/>
          </a:xfrm>
          <a:prstGeom prst="line">
            <a:avLst/>
          </a:prstGeom>
          <a:solidFill>
            <a:srgbClr val="F9FCFD"/>
          </a:solidFill>
          <a:ln w="12700">
            <a:solidFill>
              <a:srgbClr val="1B344B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30352" y="283464"/>
            <a:ext cx="64008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30" kern="0" dirty="0">
                <a:solidFill>
                  <a:srgbClr val="137F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ANDROID  /  JAVA  /  MOBILE DEVELOPMENT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30352" y="731520"/>
            <a:ext cx="10744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735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Lingkungan dan alat pengembangan</a:t>
            </a:r>
            <a:endParaRPr lang="en-US" sz="2900" dirty="0"/>
          </a:p>
        </p:txBody>
      </p:sp>
      <p:sp>
        <p:nvSpPr>
          <p:cNvPr id="8" name="Text 6"/>
          <p:cNvSpPr/>
          <p:nvPr/>
        </p:nvSpPr>
        <p:spPr>
          <a:xfrm>
            <a:off x="539496" y="1389888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870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Perangkat utama dalam modul untuk membangun aplikasi Android berbasis Java.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48640" y="6483096"/>
            <a:ext cx="8229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5870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BAB 1 • PENGENALAN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11128248" y="6446520"/>
            <a:ext cx="5029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137F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822960" y="2103120"/>
            <a:ext cx="109728" cy="109728"/>
          </a:xfrm>
          <a:prstGeom prst="ellipse">
            <a:avLst/>
          </a:prstGeom>
          <a:solidFill>
            <a:srgbClr val="8FCDB3"/>
          </a:solidFill>
          <a:ln w="12700">
            <a:solidFill>
              <a:srgbClr val="A0BEAC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1115568" y="2011680"/>
            <a:ext cx="10314432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735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JDK: perangkat pengembangan kode Java.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822960" y="2724912"/>
            <a:ext cx="109728" cy="109728"/>
          </a:xfrm>
          <a:prstGeom prst="ellipse">
            <a:avLst/>
          </a:prstGeom>
          <a:solidFill>
            <a:srgbClr val="8FCDB3"/>
          </a:solidFill>
          <a:ln w="12700">
            <a:solidFill>
              <a:srgbClr val="A0BEAC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1115568" y="2633472"/>
            <a:ext cx="10314432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735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Android Studio: IDE untuk menulis, menjalankan, menguji, serta debug aplikasi.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822960" y="3346704"/>
            <a:ext cx="109728" cy="109728"/>
          </a:xfrm>
          <a:prstGeom prst="ellipse">
            <a:avLst/>
          </a:prstGeom>
          <a:solidFill>
            <a:srgbClr val="8FCDB3"/>
          </a:solidFill>
          <a:ln w="12700">
            <a:solidFill>
              <a:srgbClr val="A0BEAC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1115568" y="3255264"/>
            <a:ext cx="10314432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735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Android SDK: API, tools, library, dan dokumentasi pengembangan.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822960" y="3968496"/>
            <a:ext cx="109728" cy="109728"/>
          </a:xfrm>
          <a:prstGeom prst="ellipse">
            <a:avLst/>
          </a:prstGeom>
          <a:solidFill>
            <a:srgbClr val="8FCDB3"/>
          </a:solidFill>
          <a:ln w="12700">
            <a:solidFill>
              <a:srgbClr val="A0BEAC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1115568" y="3877056"/>
            <a:ext cx="10314432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735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AVD/Emulator: pengujian aplikasi tanpa smartphone fisik.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822960" y="4590288"/>
            <a:ext cx="109728" cy="109728"/>
          </a:xfrm>
          <a:prstGeom prst="ellipse">
            <a:avLst/>
          </a:prstGeom>
          <a:solidFill>
            <a:srgbClr val="8FCDB3"/>
          </a:solidFill>
          <a:ln w="12700">
            <a:solidFill>
              <a:srgbClr val="A0BEAC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1115568" y="4498848"/>
            <a:ext cx="10314432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735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Gradle: konfigurasi proses build dan dependensi proyek.</a:t>
            </a:r>
            <a:endParaRPr lang="en-US" sz="1800" dirty="0"/>
          </a:p>
        </p:txBody>
      </p:sp>
      <p:sp>
        <p:nvSpPr>
          <p:cNvPr id="21" name="Oval 20"/>
          <p:cNvSpPr/>
          <p:nvPr/>
        </p:nvSpPr>
        <p:spPr>
          <a:xfrm>
            <a:off x="11475720" y="6053328"/>
            <a:ext cx="384048" cy="384048"/>
          </a:xfrm>
          <a:prstGeom prst="ellipse">
            <a:avLst/>
          </a:prstGeom>
          <a:solidFill>
            <a:srgbClr val="D1ED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8FCDB3"/>
          </a:solidFill>
          <a:ln w="12700">
            <a:solidFill>
              <a:srgbClr val="A0BEAC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9875520" y="-1645920"/>
            <a:ext cx="4114800" cy="4114800"/>
          </a:xfrm>
          <a:prstGeom prst="ellipse">
            <a:avLst/>
          </a:prstGeom>
          <a:solidFill>
            <a:srgbClr val="E9F8F2"/>
          </a:solidFill>
          <a:ln w="12700">
            <a:solidFill>
              <a:srgbClr val="EDF3F0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10789920" y="-731520"/>
            <a:ext cx="2194560" cy="2194560"/>
          </a:xfrm>
          <a:prstGeom prst="ellipse">
            <a:avLst/>
          </a:prstGeom>
          <a:solidFill>
            <a:srgbClr val="E9F3FB"/>
          </a:solidFill>
          <a:ln w="12700">
            <a:solidFill>
              <a:srgbClr val="E4E9F7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02920" y="6327648"/>
            <a:ext cx="11064240" cy="0"/>
          </a:xfrm>
          <a:prstGeom prst="line">
            <a:avLst/>
          </a:prstGeom>
          <a:solidFill>
            <a:srgbClr val="F9FCFD"/>
          </a:solidFill>
          <a:ln w="12700">
            <a:solidFill>
              <a:srgbClr val="1B344B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30352" y="283464"/>
            <a:ext cx="64008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30" kern="0" dirty="0">
                <a:solidFill>
                  <a:srgbClr val="137F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ANDROID  /  JAVA  /  MOBILE DEVELOPMENT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30352" y="731520"/>
            <a:ext cx="10744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735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Proyek pertama &amp; struktur folder</a:t>
            </a:r>
            <a:endParaRPr lang="en-US" sz="2900" dirty="0"/>
          </a:p>
        </p:txBody>
      </p:sp>
      <p:sp>
        <p:nvSpPr>
          <p:cNvPr id="8" name="Text 6"/>
          <p:cNvSpPr/>
          <p:nvPr/>
        </p:nvSpPr>
        <p:spPr>
          <a:xfrm>
            <a:off x="539496" y="1389888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870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Proyek memadukan kode logika, antarmuka, sumber daya, dan konfigurasi.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48640" y="6483096"/>
            <a:ext cx="8229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5870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BAB 1 • PENGENALAN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11128248" y="6446520"/>
            <a:ext cx="5029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137F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822960" y="2103120"/>
            <a:ext cx="109728" cy="109728"/>
          </a:xfrm>
          <a:prstGeom prst="ellipse">
            <a:avLst/>
          </a:prstGeom>
          <a:solidFill>
            <a:srgbClr val="8FCDB3"/>
          </a:solidFill>
          <a:ln w="12700">
            <a:solidFill>
              <a:srgbClr val="A0BEAC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1115568" y="2011680"/>
            <a:ext cx="10314432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735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java/: kode Java seperti Activity dan kelas pendukung.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822960" y="2724912"/>
            <a:ext cx="109728" cy="109728"/>
          </a:xfrm>
          <a:prstGeom prst="ellipse">
            <a:avLst/>
          </a:prstGeom>
          <a:solidFill>
            <a:srgbClr val="8FCDB3"/>
          </a:solidFill>
          <a:ln w="12700">
            <a:solidFill>
              <a:srgbClr val="A0BEAC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1115568" y="2633472"/>
            <a:ext cx="10314432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735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res/: resource XML seperti layout, string, gambar, warna, dan dimensi.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822960" y="3346704"/>
            <a:ext cx="109728" cy="109728"/>
          </a:xfrm>
          <a:prstGeom prst="ellipse">
            <a:avLst/>
          </a:prstGeom>
          <a:solidFill>
            <a:srgbClr val="8FCDB3"/>
          </a:solidFill>
          <a:ln w="12700">
            <a:solidFill>
              <a:srgbClr val="A0BEAC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1115568" y="3255264"/>
            <a:ext cx="10314432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735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AndroidManifest.xml: informasi dan deklarasi komponen aplikasi.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822960" y="3968496"/>
            <a:ext cx="109728" cy="109728"/>
          </a:xfrm>
          <a:prstGeom prst="ellipse">
            <a:avLst/>
          </a:prstGeom>
          <a:solidFill>
            <a:srgbClr val="8FCDB3"/>
          </a:solidFill>
          <a:ln w="12700">
            <a:solidFill>
              <a:srgbClr val="A0BEAC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1115568" y="3877056"/>
            <a:ext cx="10314432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735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Gradle: konfigurasi proses kompilasi dan pembuatan paket aplikasi.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822960" y="4590288"/>
            <a:ext cx="109728" cy="109728"/>
          </a:xfrm>
          <a:prstGeom prst="ellipse">
            <a:avLst/>
          </a:prstGeom>
          <a:solidFill>
            <a:srgbClr val="8FCDB3"/>
          </a:solidFill>
          <a:ln w="12700">
            <a:solidFill>
              <a:srgbClr val="A0BEAC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1115568" y="4498848"/>
            <a:ext cx="10314432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735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Urutan kerja: buat proyek → desain XML → kode Java → run/test.</a:t>
            </a:r>
            <a:endParaRPr lang="en-US" sz="1800" dirty="0"/>
          </a:p>
        </p:txBody>
      </p:sp>
      <p:sp>
        <p:nvSpPr>
          <p:cNvPr id="21" name="Oval 20"/>
          <p:cNvSpPr/>
          <p:nvPr/>
        </p:nvSpPr>
        <p:spPr>
          <a:xfrm>
            <a:off x="11475720" y="6053328"/>
            <a:ext cx="384048" cy="384048"/>
          </a:xfrm>
          <a:prstGeom prst="ellipse">
            <a:avLst/>
          </a:prstGeom>
          <a:solidFill>
            <a:srgbClr val="D1ED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8FCDB3"/>
          </a:solidFill>
          <a:ln w="12700">
            <a:solidFill>
              <a:srgbClr val="A0BEAC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9875520" y="-1645920"/>
            <a:ext cx="4114800" cy="4114800"/>
          </a:xfrm>
          <a:prstGeom prst="ellipse">
            <a:avLst/>
          </a:prstGeom>
          <a:solidFill>
            <a:srgbClr val="E9F8F2"/>
          </a:solidFill>
          <a:ln w="12700">
            <a:solidFill>
              <a:srgbClr val="EDF3F0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10789920" y="-731520"/>
            <a:ext cx="2194560" cy="2194560"/>
          </a:xfrm>
          <a:prstGeom prst="ellipse">
            <a:avLst/>
          </a:prstGeom>
          <a:solidFill>
            <a:srgbClr val="E9F3FB"/>
          </a:solidFill>
          <a:ln w="12700">
            <a:solidFill>
              <a:srgbClr val="E4E9F7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02920" y="6327648"/>
            <a:ext cx="11064240" cy="0"/>
          </a:xfrm>
          <a:prstGeom prst="line">
            <a:avLst/>
          </a:prstGeom>
          <a:solidFill>
            <a:srgbClr val="F9FCFD"/>
          </a:solidFill>
          <a:ln w="12700">
            <a:solidFill>
              <a:srgbClr val="1B344B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30352" y="283464"/>
            <a:ext cx="64008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30" kern="0" dirty="0">
                <a:solidFill>
                  <a:srgbClr val="137F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ANDROID  /  JAVA  /  MOBILE DEVELOPMENT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30352" y="731520"/>
            <a:ext cx="10744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735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Activity dan daur hidupnya</a:t>
            </a:r>
            <a:endParaRPr lang="en-US" sz="2900" dirty="0"/>
          </a:p>
        </p:txBody>
      </p:sp>
      <p:sp>
        <p:nvSpPr>
          <p:cNvPr id="8" name="Text 6"/>
          <p:cNvSpPr/>
          <p:nvPr/>
        </p:nvSpPr>
        <p:spPr>
          <a:xfrm>
            <a:off x="539496" y="1389888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870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Activity merepresentasikan layar/interaksi aplikasi dan memiliki lifecycle.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48640" y="6483096"/>
            <a:ext cx="8229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5870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BAB 2 • KOMPONEN DASAR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11128248" y="6446520"/>
            <a:ext cx="5029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137F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85800" y="1911096"/>
            <a:ext cx="5047488" cy="740664"/>
          </a:xfrm>
          <a:prstGeom prst="roundRect">
            <a:avLst/>
          </a:prstGeom>
          <a:solidFill>
            <a:srgbClr val="F9FCFD"/>
          </a:solidFill>
          <a:ln w="12700">
            <a:solidFill>
              <a:srgbClr val="F7F8F5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96112" y="2075688"/>
            <a:ext cx="1490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37F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onCreate()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2359152" y="2039112"/>
            <a:ext cx="316382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80" dirty="0">
                <a:solidFill>
                  <a:srgbClr val="1735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Membuat dan menginisialisasi activity</a:t>
            </a:r>
            <a:endParaRPr lang="en-US" sz="1380" dirty="0"/>
          </a:p>
        </p:txBody>
      </p:sp>
      <p:sp>
        <p:nvSpPr>
          <p:cNvPr id="14" name="Shape 12"/>
          <p:cNvSpPr/>
          <p:nvPr/>
        </p:nvSpPr>
        <p:spPr>
          <a:xfrm>
            <a:off x="685800" y="2862072"/>
            <a:ext cx="5047488" cy="740664"/>
          </a:xfrm>
          <a:prstGeom prst="roundRect">
            <a:avLst/>
          </a:prstGeom>
          <a:solidFill>
            <a:srgbClr val="F9FCFD"/>
          </a:solidFill>
          <a:ln w="12700">
            <a:solidFill>
              <a:srgbClr val="F7F8F5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896112" y="3026664"/>
            <a:ext cx="1490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37F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onStart()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2359152" y="2990088"/>
            <a:ext cx="316382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80" dirty="0">
                <a:solidFill>
                  <a:srgbClr val="1735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Layar mulai terlihat</a:t>
            </a:r>
            <a:endParaRPr lang="en-US" sz="1380" dirty="0"/>
          </a:p>
        </p:txBody>
      </p:sp>
      <p:sp>
        <p:nvSpPr>
          <p:cNvPr id="17" name="Shape 15"/>
          <p:cNvSpPr/>
          <p:nvPr/>
        </p:nvSpPr>
        <p:spPr>
          <a:xfrm>
            <a:off x="685800" y="3813048"/>
            <a:ext cx="5047488" cy="740664"/>
          </a:xfrm>
          <a:prstGeom prst="roundRect">
            <a:avLst/>
          </a:prstGeom>
          <a:solidFill>
            <a:srgbClr val="F9FCFD"/>
          </a:solidFill>
          <a:ln w="12700">
            <a:solidFill>
              <a:srgbClr val="F7F8F5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896112" y="3977640"/>
            <a:ext cx="1490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37F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onResume()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2359152" y="3941064"/>
            <a:ext cx="316382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80" dirty="0">
                <a:solidFill>
                  <a:srgbClr val="1735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Activity siap berinteraksi</a:t>
            </a:r>
            <a:endParaRPr lang="en-US" sz="1380" dirty="0"/>
          </a:p>
        </p:txBody>
      </p:sp>
      <p:sp>
        <p:nvSpPr>
          <p:cNvPr id="20" name="Shape 18"/>
          <p:cNvSpPr/>
          <p:nvPr/>
        </p:nvSpPr>
        <p:spPr>
          <a:xfrm>
            <a:off x="685800" y="4764024"/>
            <a:ext cx="5047488" cy="740664"/>
          </a:xfrm>
          <a:prstGeom prst="roundRect">
            <a:avLst/>
          </a:prstGeom>
          <a:solidFill>
            <a:srgbClr val="F9FCFD"/>
          </a:solidFill>
          <a:ln w="12700">
            <a:solidFill>
              <a:srgbClr val="F7F8F5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896112" y="4928616"/>
            <a:ext cx="1490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37F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onPause()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2359152" y="4892040"/>
            <a:ext cx="316382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80" dirty="0">
                <a:solidFill>
                  <a:srgbClr val="1735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Berada di transisi / sebagian tertutup</a:t>
            </a:r>
            <a:endParaRPr lang="en-US" sz="1380" dirty="0"/>
          </a:p>
        </p:txBody>
      </p:sp>
      <p:sp>
        <p:nvSpPr>
          <p:cNvPr id="23" name="Shape 21"/>
          <p:cNvSpPr/>
          <p:nvPr/>
        </p:nvSpPr>
        <p:spPr>
          <a:xfrm>
            <a:off x="6400800" y="1911096"/>
            <a:ext cx="5047488" cy="740664"/>
          </a:xfrm>
          <a:prstGeom prst="roundRect">
            <a:avLst/>
          </a:prstGeom>
          <a:solidFill>
            <a:srgbClr val="F9FCFD"/>
          </a:solidFill>
          <a:ln w="12700">
            <a:solidFill>
              <a:srgbClr val="F7F8F5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11112" y="2075688"/>
            <a:ext cx="1490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37F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onStop()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8074152" y="2039112"/>
            <a:ext cx="316382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80" dirty="0">
                <a:solidFill>
                  <a:srgbClr val="1735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Tidak lagi terlihat</a:t>
            </a:r>
            <a:endParaRPr lang="en-US" sz="1380" dirty="0"/>
          </a:p>
        </p:txBody>
      </p:sp>
      <p:sp>
        <p:nvSpPr>
          <p:cNvPr id="26" name="Shape 24"/>
          <p:cNvSpPr/>
          <p:nvPr/>
        </p:nvSpPr>
        <p:spPr>
          <a:xfrm>
            <a:off x="6400800" y="2862072"/>
            <a:ext cx="5047488" cy="740664"/>
          </a:xfrm>
          <a:prstGeom prst="roundRect">
            <a:avLst/>
          </a:prstGeom>
          <a:solidFill>
            <a:srgbClr val="F9FCFD"/>
          </a:solidFill>
          <a:ln w="12700">
            <a:solidFill>
              <a:srgbClr val="F7F8F5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6611112" y="3026664"/>
            <a:ext cx="1490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37F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onRestart()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8074152" y="2990088"/>
            <a:ext cx="316382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80" dirty="0">
                <a:solidFill>
                  <a:srgbClr val="1735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Aktif kembali setelah stop</a:t>
            </a:r>
            <a:endParaRPr lang="en-US" sz="1380" dirty="0"/>
          </a:p>
        </p:txBody>
      </p:sp>
      <p:sp>
        <p:nvSpPr>
          <p:cNvPr id="29" name="Shape 27"/>
          <p:cNvSpPr/>
          <p:nvPr/>
        </p:nvSpPr>
        <p:spPr>
          <a:xfrm>
            <a:off x="6400800" y="3813048"/>
            <a:ext cx="5047488" cy="740664"/>
          </a:xfrm>
          <a:prstGeom prst="roundRect">
            <a:avLst/>
          </a:prstGeom>
          <a:solidFill>
            <a:srgbClr val="F9FCFD"/>
          </a:solidFill>
          <a:ln w="12700">
            <a:solidFill>
              <a:srgbClr val="F7F8F5"/>
            </a:solidFill>
            <a:prstDash val="solid"/>
          </a:ln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6611112" y="3977640"/>
            <a:ext cx="1490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37F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onDestroy()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8074152" y="3941064"/>
            <a:ext cx="316382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80" dirty="0">
                <a:solidFill>
                  <a:srgbClr val="1735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Activity dihancurkan</a:t>
            </a:r>
            <a:endParaRPr lang="en-US" sz="1380" dirty="0"/>
          </a:p>
        </p:txBody>
      </p:sp>
      <p:sp>
        <p:nvSpPr>
          <p:cNvPr id="32" name="Oval 31"/>
          <p:cNvSpPr/>
          <p:nvPr/>
        </p:nvSpPr>
        <p:spPr>
          <a:xfrm>
            <a:off x="11475720" y="6053328"/>
            <a:ext cx="384048" cy="384048"/>
          </a:xfrm>
          <a:prstGeom prst="ellipse">
            <a:avLst/>
          </a:prstGeom>
          <a:solidFill>
            <a:srgbClr val="D1ED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8FCDB3"/>
          </a:solidFill>
          <a:ln w="12700">
            <a:solidFill>
              <a:srgbClr val="A0BEAC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9875520" y="-1645920"/>
            <a:ext cx="4114800" cy="4114800"/>
          </a:xfrm>
          <a:prstGeom prst="ellipse">
            <a:avLst/>
          </a:prstGeom>
          <a:solidFill>
            <a:srgbClr val="E9F8F2"/>
          </a:solidFill>
          <a:ln w="12700">
            <a:solidFill>
              <a:srgbClr val="EDF3F0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10789920" y="-731520"/>
            <a:ext cx="2194560" cy="2194560"/>
          </a:xfrm>
          <a:prstGeom prst="ellipse">
            <a:avLst/>
          </a:prstGeom>
          <a:solidFill>
            <a:srgbClr val="E9F3FB"/>
          </a:solidFill>
          <a:ln w="12700">
            <a:solidFill>
              <a:srgbClr val="E4E9F7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02920" y="6327648"/>
            <a:ext cx="11064240" cy="0"/>
          </a:xfrm>
          <a:prstGeom prst="line">
            <a:avLst/>
          </a:prstGeom>
          <a:solidFill>
            <a:srgbClr val="F9FCFD"/>
          </a:solidFill>
          <a:ln w="12700">
            <a:solidFill>
              <a:srgbClr val="1B344B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30352" y="283464"/>
            <a:ext cx="64008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30" kern="0" dirty="0">
                <a:solidFill>
                  <a:srgbClr val="137F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ANDROID  /  JAVA  /  MOBILE DEVELOPMENT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30352" y="731520"/>
            <a:ext cx="10744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735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Intent: menghubungkan komponen</a:t>
            </a:r>
            <a:endParaRPr lang="en-US" sz="2900" dirty="0"/>
          </a:p>
        </p:txBody>
      </p:sp>
      <p:sp>
        <p:nvSpPr>
          <p:cNvPr id="8" name="Text 6"/>
          <p:cNvSpPr/>
          <p:nvPr/>
        </p:nvSpPr>
        <p:spPr>
          <a:xfrm>
            <a:off x="539496" y="1389888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870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Intent digunakan untuk meminta aksi atau perpindahan antar-Activity.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48640" y="6483096"/>
            <a:ext cx="8229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5870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BAB 2 • KOMPONEN DASAR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11128248" y="6446520"/>
            <a:ext cx="5029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137F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85800" y="2011680"/>
            <a:ext cx="5303520" cy="3337560"/>
          </a:xfrm>
          <a:prstGeom prst="roundRect">
            <a:avLst/>
          </a:prstGeom>
          <a:solidFill>
            <a:srgbClr val="F9FCFD"/>
          </a:solidFill>
          <a:ln w="12700">
            <a:solidFill>
              <a:srgbClr val="1B344B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859536" y="2231136"/>
            <a:ext cx="50292" cy="320040"/>
          </a:xfrm>
          <a:prstGeom prst="rect">
            <a:avLst/>
          </a:prstGeom>
          <a:solidFill>
            <a:srgbClr val="137F69"/>
          </a:solidFill>
          <a:ln w="12700">
            <a:solidFill>
              <a:srgbClr val="467E73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1042416" y="2212848"/>
            <a:ext cx="47365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37F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Explicit Intent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941832" y="2715768"/>
            <a:ext cx="480060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735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Menentukan Activity atau kelas tujuan secara langsung. Digunakan untuk berpindah antarhalaman dalam aplikasi.</a:t>
            </a:r>
            <a:endParaRPr lang="en-US" sz="1450" dirty="0"/>
          </a:p>
          <a:p>
            <a:pPr indent="0" marL="0">
              <a:buNone/>
            </a:pP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1735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Contoh: halaman utama → detail biodata.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6245352" y="2011680"/>
            <a:ext cx="5212080" cy="3337560"/>
          </a:xfrm>
          <a:prstGeom prst="roundRect">
            <a:avLst/>
          </a:prstGeom>
          <a:solidFill>
            <a:srgbClr val="F9FCFD"/>
          </a:solidFill>
          <a:ln w="12700">
            <a:solidFill>
              <a:srgbClr val="1B344B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6419088" y="2231136"/>
            <a:ext cx="50292" cy="320040"/>
          </a:xfrm>
          <a:prstGeom prst="rect">
            <a:avLst/>
          </a:prstGeom>
          <a:solidFill>
            <a:srgbClr val="1586C9"/>
          </a:solidFill>
          <a:ln w="12700">
            <a:solidFill>
              <a:srgbClr val="54B6F3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6601968" y="2212848"/>
            <a:ext cx="46451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586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Implicit Intent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501384" y="2715768"/>
            <a:ext cx="470916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735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Menyatakan aksi yang dibutuhkan tanpa menunjuk kelas tertentu; sistem memilih aplikasi yang sesuai.</a:t>
            </a:r>
            <a:endParaRPr lang="en-US" sz="1450" dirty="0"/>
          </a:p>
          <a:p>
            <a:pPr indent="0" marL="0">
              <a:buNone/>
            </a:pP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1735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Contoh: membuka web, peta, atau dial telepon.</a:t>
            </a:r>
            <a:endParaRPr lang="en-US" sz="1450" dirty="0"/>
          </a:p>
        </p:txBody>
      </p:sp>
      <p:sp>
        <p:nvSpPr>
          <p:cNvPr id="19" name="Oval 18"/>
          <p:cNvSpPr/>
          <p:nvPr/>
        </p:nvSpPr>
        <p:spPr>
          <a:xfrm>
            <a:off x="11475720" y="6053328"/>
            <a:ext cx="384048" cy="384048"/>
          </a:xfrm>
          <a:prstGeom prst="ellipse">
            <a:avLst/>
          </a:prstGeom>
          <a:solidFill>
            <a:srgbClr val="D1ED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8FCDB3"/>
          </a:solidFill>
          <a:ln w="12700">
            <a:solidFill>
              <a:srgbClr val="A0BEAC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9875520" y="-1645920"/>
            <a:ext cx="4114800" cy="4114800"/>
          </a:xfrm>
          <a:prstGeom prst="ellipse">
            <a:avLst/>
          </a:prstGeom>
          <a:solidFill>
            <a:srgbClr val="E9F8F2"/>
          </a:solidFill>
          <a:ln w="12700">
            <a:solidFill>
              <a:srgbClr val="EDF3F0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10789920" y="-731520"/>
            <a:ext cx="2194560" cy="2194560"/>
          </a:xfrm>
          <a:prstGeom prst="ellipse">
            <a:avLst/>
          </a:prstGeom>
          <a:solidFill>
            <a:srgbClr val="E9F3FB"/>
          </a:solidFill>
          <a:ln w="12700">
            <a:solidFill>
              <a:srgbClr val="E4E9F7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02920" y="6327648"/>
            <a:ext cx="11064240" cy="0"/>
          </a:xfrm>
          <a:prstGeom prst="line">
            <a:avLst/>
          </a:prstGeom>
          <a:solidFill>
            <a:srgbClr val="F9FCFD"/>
          </a:solidFill>
          <a:ln w="12700">
            <a:solidFill>
              <a:srgbClr val="1B344B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30352" y="283464"/>
            <a:ext cx="64008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30" kern="0" dirty="0">
                <a:solidFill>
                  <a:srgbClr val="137F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ANDROID  /  JAVA  /  MOBILE DEVELOPMENT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30352" y="731520"/>
            <a:ext cx="10744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735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Fragment dan pengiriman data</a:t>
            </a:r>
            <a:endParaRPr lang="en-US" sz="2900" dirty="0"/>
          </a:p>
        </p:txBody>
      </p:sp>
      <p:sp>
        <p:nvSpPr>
          <p:cNvPr id="8" name="Text 6"/>
          <p:cNvSpPr/>
          <p:nvPr/>
        </p:nvSpPr>
        <p:spPr>
          <a:xfrm>
            <a:off x="539496" y="1389888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870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Komponen antarmuka yang lebih kecil dan reusable di dalam Activity.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48640" y="6483096"/>
            <a:ext cx="8229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5870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BAB 2 • KOMPONEN DASAR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11128248" y="6446520"/>
            <a:ext cx="5029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137F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822960" y="2103120"/>
            <a:ext cx="109728" cy="109728"/>
          </a:xfrm>
          <a:prstGeom prst="ellipse">
            <a:avLst/>
          </a:prstGeom>
          <a:solidFill>
            <a:srgbClr val="8FCDB3"/>
          </a:solidFill>
          <a:ln w="12700">
            <a:solidFill>
              <a:srgbClr val="A0BEAC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1115568" y="2011680"/>
            <a:ext cx="10314432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735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Fragment mempunyai layout serta lifecycle sendiri yang terkait Activity.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822960" y="2724912"/>
            <a:ext cx="109728" cy="109728"/>
          </a:xfrm>
          <a:prstGeom prst="ellipse">
            <a:avLst/>
          </a:prstGeom>
          <a:solidFill>
            <a:srgbClr val="8FCDB3"/>
          </a:solidFill>
          <a:ln w="12700">
            <a:solidFill>
              <a:srgbClr val="A0BEAC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1115568" y="2633472"/>
            <a:ext cx="10314432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735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Satu Activity dapat menampung beberapa Fragment.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822960" y="3346704"/>
            <a:ext cx="109728" cy="109728"/>
          </a:xfrm>
          <a:prstGeom prst="ellipse">
            <a:avLst/>
          </a:prstGeom>
          <a:solidFill>
            <a:srgbClr val="8FCDB3"/>
          </a:solidFill>
          <a:ln w="12700">
            <a:solidFill>
              <a:srgbClr val="A0BEAC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1115568" y="3255264"/>
            <a:ext cx="10314432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735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Fragment membantu membuat antarmuka lebih fleksibel.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822960" y="3968496"/>
            <a:ext cx="109728" cy="109728"/>
          </a:xfrm>
          <a:prstGeom prst="ellipse">
            <a:avLst/>
          </a:prstGeom>
          <a:solidFill>
            <a:srgbClr val="8FCDB3"/>
          </a:solidFill>
          <a:ln w="12700">
            <a:solidFill>
              <a:srgbClr val="A0BEAC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1115568" y="3877056"/>
            <a:ext cx="10314432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735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putExtra() atau Bundle digunakan untuk menyertakan data pada Intent.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822960" y="4590288"/>
            <a:ext cx="109728" cy="109728"/>
          </a:xfrm>
          <a:prstGeom prst="ellipse">
            <a:avLst/>
          </a:prstGeom>
          <a:solidFill>
            <a:srgbClr val="8FCDB3"/>
          </a:solidFill>
          <a:ln w="12700">
            <a:solidFill>
              <a:srgbClr val="A0BEAC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1115568" y="4498848"/>
            <a:ext cx="10314432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735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Activity penerima membaca extras berdasarkan key dan tipe datanya.</a:t>
            </a:r>
            <a:endParaRPr lang="en-US" sz="1800" dirty="0"/>
          </a:p>
        </p:txBody>
      </p:sp>
      <p:sp>
        <p:nvSpPr>
          <p:cNvPr id="21" name="Oval 20"/>
          <p:cNvSpPr/>
          <p:nvPr/>
        </p:nvSpPr>
        <p:spPr>
          <a:xfrm>
            <a:off x="11475720" y="6053328"/>
            <a:ext cx="384048" cy="384048"/>
          </a:xfrm>
          <a:prstGeom prst="ellipse">
            <a:avLst/>
          </a:prstGeom>
          <a:solidFill>
            <a:srgbClr val="D1ED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8FCDB3"/>
          </a:solidFill>
          <a:ln w="12700">
            <a:solidFill>
              <a:srgbClr val="A0BEAC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9875520" y="-1645920"/>
            <a:ext cx="4114800" cy="4114800"/>
          </a:xfrm>
          <a:prstGeom prst="ellipse">
            <a:avLst/>
          </a:prstGeom>
          <a:solidFill>
            <a:srgbClr val="E9F8F2"/>
          </a:solidFill>
          <a:ln w="12700">
            <a:solidFill>
              <a:srgbClr val="EDF3F0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10789920" y="-731520"/>
            <a:ext cx="2194560" cy="2194560"/>
          </a:xfrm>
          <a:prstGeom prst="ellipse">
            <a:avLst/>
          </a:prstGeom>
          <a:solidFill>
            <a:srgbClr val="E9F3FB"/>
          </a:solidFill>
          <a:ln w="12700">
            <a:solidFill>
              <a:srgbClr val="E4E9F7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02920" y="6327648"/>
            <a:ext cx="11064240" cy="0"/>
          </a:xfrm>
          <a:prstGeom prst="line">
            <a:avLst/>
          </a:prstGeom>
          <a:solidFill>
            <a:srgbClr val="F9FCFD"/>
          </a:solidFill>
          <a:ln w="12700">
            <a:solidFill>
              <a:srgbClr val="1B344B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30352" y="283464"/>
            <a:ext cx="64008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30" kern="0" dirty="0">
                <a:solidFill>
                  <a:srgbClr val="137F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ANDROID  /  JAVA  /  MOBILE DEVELOPMENT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30352" y="731520"/>
            <a:ext cx="10744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735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UI dan UX pada aplikasi Android</a:t>
            </a:r>
            <a:endParaRPr lang="en-US" sz="2900" dirty="0"/>
          </a:p>
        </p:txBody>
      </p:sp>
      <p:sp>
        <p:nvSpPr>
          <p:cNvPr id="8" name="Text 6"/>
          <p:cNvSpPr/>
          <p:nvPr/>
        </p:nvSpPr>
        <p:spPr>
          <a:xfrm>
            <a:off x="539496" y="1389888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870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UI adalah tampilan/elemen interaksi; UX adalah pengalaman pengguna saat memakai aplikasi.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48640" y="6483096"/>
            <a:ext cx="8229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5870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BAB 3 • UI/UX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11128248" y="6446520"/>
            <a:ext cx="5029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137F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822960" y="2103120"/>
            <a:ext cx="109728" cy="109728"/>
          </a:xfrm>
          <a:prstGeom prst="ellipse">
            <a:avLst/>
          </a:prstGeom>
          <a:solidFill>
            <a:srgbClr val="8FCDB3"/>
          </a:solidFill>
          <a:ln w="12700">
            <a:solidFill>
              <a:srgbClr val="A0BEAC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1115568" y="2011680"/>
            <a:ext cx="10314432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735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View: elemen seperti TextView, EditText, Button, dan ImageView.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822960" y="2724912"/>
            <a:ext cx="109728" cy="109728"/>
          </a:xfrm>
          <a:prstGeom prst="ellipse">
            <a:avLst/>
          </a:prstGeom>
          <a:solidFill>
            <a:srgbClr val="8FCDB3"/>
          </a:solidFill>
          <a:ln w="12700">
            <a:solidFill>
              <a:srgbClr val="A0BEAC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1115568" y="2633472"/>
            <a:ext cx="10314432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735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ViewGroup: wadah pengatur tata letak, misalnya LinearLayout dan GridLayout.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822960" y="3346704"/>
            <a:ext cx="109728" cy="109728"/>
          </a:xfrm>
          <a:prstGeom prst="ellipse">
            <a:avLst/>
          </a:prstGeom>
          <a:solidFill>
            <a:srgbClr val="8FCDB3"/>
          </a:solidFill>
          <a:ln w="12700">
            <a:solidFill>
              <a:srgbClr val="A0BEAC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1115568" y="3255264"/>
            <a:ext cx="10314432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735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Style: mengatur atribut visual berulang; Theme: gaya aplikasi/Activity.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822960" y="3968496"/>
            <a:ext cx="109728" cy="109728"/>
          </a:xfrm>
          <a:prstGeom prst="ellipse">
            <a:avLst/>
          </a:prstGeom>
          <a:solidFill>
            <a:srgbClr val="8FCDB3"/>
          </a:solidFill>
          <a:ln w="12700">
            <a:solidFill>
              <a:srgbClr val="A0BEAC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1115568" y="3877056"/>
            <a:ext cx="10314432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735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Localization: menyesuaikan bahasa aplikasi dengan pengaturan pengguna.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822960" y="4590288"/>
            <a:ext cx="109728" cy="109728"/>
          </a:xfrm>
          <a:prstGeom prst="ellipse">
            <a:avLst/>
          </a:prstGeom>
          <a:solidFill>
            <a:srgbClr val="8FCDB3"/>
          </a:solidFill>
          <a:ln w="12700">
            <a:solidFill>
              <a:srgbClr val="A0BEAC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1115568" y="4498848"/>
            <a:ext cx="10314432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735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Desain interaksi perlu jelas, mudah diakses, dan meminimalkan langkah.</a:t>
            </a:r>
            <a:endParaRPr lang="en-US" sz="1800" dirty="0"/>
          </a:p>
        </p:txBody>
      </p:sp>
      <p:sp>
        <p:nvSpPr>
          <p:cNvPr id="21" name="Oval 20"/>
          <p:cNvSpPr/>
          <p:nvPr/>
        </p:nvSpPr>
        <p:spPr>
          <a:xfrm>
            <a:off x="11475720" y="6053328"/>
            <a:ext cx="384048" cy="384048"/>
          </a:xfrm>
          <a:prstGeom prst="ellipse">
            <a:avLst/>
          </a:prstGeom>
          <a:solidFill>
            <a:srgbClr val="D1ED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8FCDB3"/>
          </a:solidFill>
          <a:ln w="12700">
            <a:solidFill>
              <a:srgbClr val="A0BEAC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9875520" y="-1645920"/>
            <a:ext cx="4114800" cy="4114800"/>
          </a:xfrm>
          <a:prstGeom prst="ellipse">
            <a:avLst/>
          </a:prstGeom>
          <a:solidFill>
            <a:srgbClr val="E9F8F2"/>
          </a:solidFill>
          <a:ln w="12700">
            <a:solidFill>
              <a:srgbClr val="EDF3F0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10789920" y="-731520"/>
            <a:ext cx="2194560" cy="2194560"/>
          </a:xfrm>
          <a:prstGeom prst="ellipse">
            <a:avLst/>
          </a:prstGeom>
          <a:solidFill>
            <a:srgbClr val="E9F3FB"/>
          </a:solidFill>
          <a:ln w="12700">
            <a:solidFill>
              <a:srgbClr val="E4E9F7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02920" y="6327648"/>
            <a:ext cx="11064240" cy="0"/>
          </a:xfrm>
          <a:prstGeom prst="line">
            <a:avLst/>
          </a:prstGeom>
          <a:solidFill>
            <a:srgbClr val="F9FCFD"/>
          </a:solidFill>
          <a:ln w="12700">
            <a:solidFill>
              <a:srgbClr val="1B344B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30352" y="283464"/>
            <a:ext cx="64008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30" kern="0" dirty="0">
                <a:solidFill>
                  <a:srgbClr val="137F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ANDROID  /  JAVA  /  MOBILE DEVELOPMENT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30352" y="731520"/>
            <a:ext cx="10744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735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Layout dan kontrol input</a:t>
            </a:r>
            <a:endParaRPr lang="en-US" sz="2900" dirty="0"/>
          </a:p>
        </p:txBody>
      </p:sp>
      <p:sp>
        <p:nvSpPr>
          <p:cNvPr id="8" name="Text 6"/>
          <p:cNvSpPr/>
          <p:nvPr/>
        </p:nvSpPr>
        <p:spPr>
          <a:xfrm>
            <a:off x="539496" y="1389888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870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Komponen XML membentuk susunan halaman dan interaksi pengguna.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48640" y="6483096"/>
            <a:ext cx="8229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5870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BAB 3 • UI/UX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11128248" y="6446520"/>
            <a:ext cx="5029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137F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40080" y="1965960"/>
            <a:ext cx="5394960" cy="3566160"/>
          </a:xfrm>
          <a:prstGeom prst="roundRect">
            <a:avLst/>
          </a:prstGeom>
          <a:solidFill>
            <a:srgbClr val="F9FCFD"/>
          </a:solidFill>
          <a:ln w="12700">
            <a:solidFill>
              <a:srgbClr val="1B344B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813816" y="2185416"/>
            <a:ext cx="50292" cy="320040"/>
          </a:xfrm>
          <a:prstGeom prst="rect">
            <a:avLst/>
          </a:prstGeom>
          <a:solidFill>
            <a:srgbClr val="137F69"/>
          </a:solidFill>
          <a:ln w="12700">
            <a:solidFill>
              <a:srgbClr val="467E73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996696" y="2167128"/>
            <a:ext cx="4828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37F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Jenis layout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896112" y="2670048"/>
            <a:ext cx="4892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735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LinearLayout: urutan vertikal/horizontal.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1735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ConstraintLayout: posisi berbasis constraint.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1735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GridLayout: susunan berbentuk grid.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1735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TableLayout: susunan tabel.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6272784" y="1965960"/>
            <a:ext cx="5257800" cy="3566160"/>
          </a:xfrm>
          <a:prstGeom prst="roundRect">
            <a:avLst/>
          </a:prstGeom>
          <a:solidFill>
            <a:srgbClr val="F9FCFD"/>
          </a:solidFill>
          <a:ln w="12700">
            <a:solidFill>
              <a:srgbClr val="1B344B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6446520" y="2185416"/>
            <a:ext cx="50292" cy="320040"/>
          </a:xfrm>
          <a:prstGeom prst="rect">
            <a:avLst/>
          </a:prstGeom>
          <a:solidFill>
            <a:srgbClr val="1586C9"/>
          </a:solidFill>
          <a:ln w="12700">
            <a:solidFill>
              <a:srgbClr val="54B6F3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6629400" y="2167128"/>
            <a:ext cx="4690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586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 control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528816" y="2670048"/>
            <a:ext cx="47548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735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EditText: memasukkan teks.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1735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CheckBox: memilih beberapa opsi.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1735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RadioButton: satu pilihan dalam grup.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1735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Switch: on/off.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1735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Spinner: memilih satu item.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1735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SeekBar: memilih nilai dengan geser.</a:t>
            </a:r>
            <a:endParaRPr lang="en-US" sz="1450" dirty="0"/>
          </a:p>
        </p:txBody>
      </p:sp>
      <p:sp>
        <p:nvSpPr>
          <p:cNvPr id="19" name="Oval 18"/>
          <p:cNvSpPr/>
          <p:nvPr/>
        </p:nvSpPr>
        <p:spPr>
          <a:xfrm>
            <a:off x="11475720" y="6053328"/>
            <a:ext cx="384048" cy="384048"/>
          </a:xfrm>
          <a:prstGeom prst="ellipse">
            <a:avLst/>
          </a:prstGeom>
          <a:solidFill>
            <a:srgbClr val="D1ED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8FCDB3"/>
          </a:solidFill>
          <a:ln w="12700">
            <a:solidFill>
              <a:srgbClr val="A0BEAC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9875520" y="-1645920"/>
            <a:ext cx="4114800" cy="4114800"/>
          </a:xfrm>
          <a:prstGeom prst="ellipse">
            <a:avLst/>
          </a:prstGeom>
          <a:solidFill>
            <a:srgbClr val="E9F8F2"/>
          </a:solidFill>
          <a:ln w="12700">
            <a:solidFill>
              <a:srgbClr val="EDF3F0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10789920" y="-731520"/>
            <a:ext cx="2194560" cy="2194560"/>
          </a:xfrm>
          <a:prstGeom prst="ellipse">
            <a:avLst/>
          </a:prstGeom>
          <a:solidFill>
            <a:srgbClr val="E9F3FB"/>
          </a:solidFill>
          <a:ln w="12700">
            <a:solidFill>
              <a:srgbClr val="E4E9F7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02920" y="6327648"/>
            <a:ext cx="11064240" cy="0"/>
          </a:xfrm>
          <a:prstGeom prst="line">
            <a:avLst/>
          </a:prstGeom>
          <a:solidFill>
            <a:srgbClr val="F9FCFD"/>
          </a:solidFill>
          <a:ln w="12700">
            <a:solidFill>
              <a:srgbClr val="1B344B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30352" y="283464"/>
            <a:ext cx="64008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30" kern="0" dirty="0">
                <a:solidFill>
                  <a:srgbClr val="137F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ANDROID  /  JAVA  /  MOBILE DEVELOPMENT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30352" y="731520"/>
            <a:ext cx="10744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735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Interaksi, pesan, dan navigasi</a:t>
            </a:r>
            <a:endParaRPr lang="en-US" sz="2900" dirty="0"/>
          </a:p>
        </p:txBody>
      </p:sp>
      <p:sp>
        <p:nvSpPr>
          <p:cNvPr id="8" name="Text 6"/>
          <p:cNvSpPr/>
          <p:nvPr/>
        </p:nvSpPr>
        <p:spPr>
          <a:xfrm>
            <a:off x="539496" y="1389888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870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Memberikan umpan balik dan memungkinkan pengguna berpindah secara intuitif.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48640" y="6483096"/>
            <a:ext cx="8229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5870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BAB 3 • UI/UX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11128248" y="6446520"/>
            <a:ext cx="5029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137F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822960" y="2103120"/>
            <a:ext cx="109728" cy="109728"/>
          </a:xfrm>
          <a:prstGeom prst="ellipse">
            <a:avLst/>
          </a:prstGeom>
          <a:solidFill>
            <a:srgbClr val="8FCDB3"/>
          </a:solidFill>
          <a:ln w="12700">
            <a:solidFill>
              <a:srgbClr val="A0BEAC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1115568" y="2011680"/>
            <a:ext cx="10314432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735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Button merespons aksi melalui android:onClick atau OnClickListener.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822960" y="2724912"/>
            <a:ext cx="109728" cy="109728"/>
          </a:xfrm>
          <a:prstGeom prst="ellipse">
            <a:avLst/>
          </a:prstGeom>
          <a:solidFill>
            <a:srgbClr val="8FCDB3"/>
          </a:solidFill>
          <a:ln w="12700">
            <a:solidFill>
              <a:srgbClr val="A0BEAC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1115568" y="2633472"/>
            <a:ext cx="10314432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735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Toast menampilkan pesan singkat yang menghilang otomatis.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822960" y="3346704"/>
            <a:ext cx="109728" cy="109728"/>
          </a:xfrm>
          <a:prstGeom prst="ellipse">
            <a:avLst/>
          </a:prstGeom>
          <a:solidFill>
            <a:srgbClr val="8FCDB3"/>
          </a:solidFill>
          <a:ln w="12700">
            <a:solidFill>
              <a:srgbClr val="A0BEAC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1115568" y="3255264"/>
            <a:ext cx="10314432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735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Menu meliputi options menu, context menu, dan popup menu.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822960" y="3968496"/>
            <a:ext cx="109728" cy="109728"/>
          </a:xfrm>
          <a:prstGeom prst="ellipse">
            <a:avLst/>
          </a:prstGeom>
          <a:solidFill>
            <a:srgbClr val="8FCDB3"/>
          </a:solidFill>
          <a:ln w="12700">
            <a:solidFill>
              <a:srgbClr val="A0BEAC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1115568" y="3877056"/>
            <a:ext cx="10314432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735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Dialog / picker meliputi AlertDialog, DatePicker, dan TimePicker.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822960" y="4590288"/>
            <a:ext cx="109728" cy="109728"/>
          </a:xfrm>
          <a:prstGeom prst="ellipse">
            <a:avLst/>
          </a:prstGeom>
          <a:solidFill>
            <a:srgbClr val="8FCDB3"/>
          </a:solidFill>
          <a:ln w="12700">
            <a:solidFill>
              <a:srgbClr val="A0BEAC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1115568" y="4498848"/>
            <a:ext cx="10314432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735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Navigasi: tombol Back, hierarchical navigation, dan navigation drawer.</a:t>
            </a:r>
            <a:endParaRPr lang="en-US" sz="1800" dirty="0"/>
          </a:p>
        </p:txBody>
      </p:sp>
      <p:sp>
        <p:nvSpPr>
          <p:cNvPr id="21" name="Oval 20"/>
          <p:cNvSpPr/>
          <p:nvPr/>
        </p:nvSpPr>
        <p:spPr>
          <a:xfrm>
            <a:off x="11475720" y="6053328"/>
            <a:ext cx="384048" cy="384048"/>
          </a:xfrm>
          <a:prstGeom prst="ellipse">
            <a:avLst/>
          </a:prstGeom>
          <a:solidFill>
            <a:srgbClr val="D1ED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8FCDB3"/>
          </a:solidFill>
          <a:ln w="12700">
            <a:solidFill>
              <a:srgbClr val="A0BEAC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9875520" y="-1645920"/>
            <a:ext cx="4114800" cy="4114800"/>
          </a:xfrm>
          <a:prstGeom prst="ellipse">
            <a:avLst/>
          </a:prstGeom>
          <a:solidFill>
            <a:srgbClr val="E9F8F2"/>
          </a:solidFill>
          <a:ln w="12700">
            <a:solidFill>
              <a:srgbClr val="EDF3F0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10789920" y="-731520"/>
            <a:ext cx="2194560" cy="2194560"/>
          </a:xfrm>
          <a:prstGeom prst="ellipse">
            <a:avLst/>
          </a:prstGeom>
          <a:solidFill>
            <a:srgbClr val="E9F3FB"/>
          </a:solidFill>
          <a:ln w="12700">
            <a:solidFill>
              <a:srgbClr val="E4E9F7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02920" y="6327648"/>
            <a:ext cx="11064240" cy="0"/>
          </a:xfrm>
          <a:prstGeom prst="line">
            <a:avLst/>
          </a:prstGeom>
          <a:solidFill>
            <a:srgbClr val="F9FCFD"/>
          </a:solidFill>
          <a:ln w="12700">
            <a:solidFill>
              <a:srgbClr val="1B344B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30352" y="283464"/>
            <a:ext cx="64008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30" kern="0" dirty="0">
                <a:solidFill>
                  <a:srgbClr val="137F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ANDROID  /  JAVA  /  MOBILE DEVELOPMENT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30352" y="731520"/>
            <a:ext cx="10744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735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RecyclerView untuk daftar data</a:t>
            </a:r>
            <a:endParaRPr lang="en-US" sz="2900" dirty="0"/>
          </a:p>
        </p:txBody>
      </p:sp>
      <p:sp>
        <p:nvSpPr>
          <p:cNvPr id="8" name="Text 6"/>
          <p:cNvSpPr/>
          <p:nvPr/>
        </p:nvSpPr>
        <p:spPr>
          <a:xfrm>
            <a:off x="539496" y="1389888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870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RecyclerView lebih fleksibel dan efisien daripada ListView untuk menampilkan kumpulan data.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48640" y="6483096"/>
            <a:ext cx="8229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5870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BAB 3 • UI/UX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11128248" y="6446520"/>
            <a:ext cx="5029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137F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822960" y="2103120"/>
            <a:ext cx="109728" cy="109728"/>
          </a:xfrm>
          <a:prstGeom prst="ellipse">
            <a:avLst/>
          </a:prstGeom>
          <a:solidFill>
            <a:srgbClr val="8FCDB3"/>
          </a:solidFill>
          <a:ln w="12700">
            <a:solidFill>
              <a:srgbClr val="A0BEAC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1115568" y="2011680"/>
            <a:ext cx="10314432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735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RecyclerView menampilkan item daftar melalui layout khusus setiap baris.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822960" y="2724912"/>
            <a:ext cx="109728" cy="109728"/>
          </a:xfrm>
          <a:prstGeom prst="ellipse">
            <a:avLst/>
          </a:prstGeom>
          <a:solidFill>
            <a:srgbClr val="8FCDB3"/>
          </a:solidFill>
          <a:ln w="12700">
            <a:solidFill>
              <a:srgbClr val="A0BEAC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1115568" y="2633472"/>
            <a:ext cx="10314432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735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menyimpan atribut objek, misalnya judul, penulis, dan deskripsi buku.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822960" y="3346704"/>
            <a:ext cx="109728" cy="109728"/>
          </a:xfrm>
          <a:prstGeom prst="ellipse">
            <a:avLst/>
          </a:prstGeom>
          <a:solidFill>
            <a:srgbClr val="8FCDB3"/>
          </a:solidFill>
          <a:ln w="12700">
            <a:solidFill>
              <a:srgbClr val="A0BEAC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1115568" y="3255264"/>
            <a:ext cx="10314432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735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Adapter menghubungkan sumber data dengan tampilan setiap item.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822960" y="3968496"/>
            <a:ext cx="109728" cy="109728"/>
          </a:xfrm>
          <a:prstGeom prst="ellipse">
            <a:avLst/>
          </a:prstGeom>
          <a:solidFill>
            <a:srgbClr val="8FCDB3"/>
          </a:solidFill>
          <a:ln w="12700">
            <a:solidFill>
              <a:srgbClr val="A0BEAC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1115568" y="3877056"/>
            <a:ext cx="10314432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735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LayoutManager mengatur susunan item pada layar.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822960" y="4590288"/>
            <a:ext cx="109728" cy="109728"/>
          </a:xfrm>
          <a:prstGeom prst="ellipse">
            <a:avLst/>
          </a:prstGeom>
          <a:solidFill>
            <a:srgbClr val="8FCDB3"/>
          </a:solidFill>
          <a:ln w="12700">
            <a:solidFill>
              <a:srgbClr val="A0BEAC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1115568" y="4498848"/>
            <a:ext cx="10314432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735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Drawable, Image Asset Studio, dan Vector Asset Studio mendukung grafis/ikon.</a:t>
            </a:r>
            <a:endParaRPr lang="en-US" sz="1800" dirty="0"/>
          </a:p>
        </p:txBody>
      </p:sp>
      <p:sp>
        <p:nvSpPr>
          <p:cNvPr id="21" name="Oval 20"/>
          <p:cNvSpPr/>
          <p:nvPr/>
        </p:nvSpPr>
        <p:spPr>
          <a:xfrm>
            <a:off x="11475720" y="6053328"/>
            <a:ext cx="384048" cy="384048"/>
          </a:xfrm>
          <a:prstGeom prst="ellipse">
            <a:avLst/>
          </a:prstGeom>
          <a:solidFill>
            <a:srgbClr val="D1ED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8FCDB3"/>
          </a:solidFill>
          <a:ln w="12700">
            <a:solidFill>
              <a:srgbClr val="A0BEAC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9875520" y="-1645920"/>
            <a:ext cx="4114800" cy="4114800"/>
          </a:xfrm>
          <a:prstGeom prst="ellipse">
            <a:avLst/>
          </a:prstGeom>
          <a:solidFill>
            <a:srgbClr val="E9F8F2"/>
          </a:solidFill>
          <a:ln w="12700">
            <a:solidFill>
              <a:srgbClr val="EDF3F0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10789920" y="-731520"/>
            <a:ext cx="2194560" cy="2194560"/>
          </a:xfrm>
          <a:prstGeom prst="ellipse">
            <a:avLst/>
          </a:prstGeom>
          <a:solidFill>
            <a:srgbClr val="E9F3FB"/>
          </a:solidFill>
          <a:ln w="12700">
            <a:solidFill>
              <a:srgbClr val="E4E9F7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02920" y="6327648"/>
            <a:ext cx="11064240" cy="0"/>
          </a:xfrm>
          <a:prstGeom prst="line">
            <a:avLst/>
          </a:prstGeom>
          <a:solidFill>
            <a:srgbClr val="F9FCFD"/>
          </a:solidFill>
          <a:ln w="12700">
            <a:solidFill>
              <a:srgbClr val="1B344B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30352" y="283464"/>
            <a:ext cx="64008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30" kern="0" dirty="0">
                <a:solidFill>
                  <a:srgbClr val="137F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ANDROID  /  JAVA  /  MOBILE DEVELOPMENT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30352" y="731520"/>
            <a:ext cx="10744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735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Pemrosesan di latar belakang</a:t>
            </a:r>
            <a:endParaRPr lang="en-US" sz="2900" dirty="0"/>
          </a:p>
        </p:txBody>
      </p:sp>
      <p:sp>
        <p:nvSpPr>
          <p:cNvPr id="8" name="Text 6"/>
          <p:cNvSpPr/>
          <p:nvPr/>
        </p:nvSpPr>
        <p:spPr>
          <a:xfrm>
            <a:off x="539496" y="1389888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870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Pekerjaan tertentu tetap diperlukan di luar layar aplikasi yang aktif.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48640" y="6483096"/>
            <a:ext cx="8229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5870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BAB 4 • BACKGROUND TASK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11128248" y="6446520"/>
            <a:ext cx="5029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137F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85800" y="2057400"/>
            <a:ext cx="3456432" cy="3154680"/>
          </a:xfrm>
          <a:prstGeom prst="roundRect">
            <a:avLst/>
          </a:prstGeom>
          <a:solidFill>
            <a:srgbClr val="F9FCFD"/>
          </a:solidFill>
          <a:ln w="12700">
            <a:solidFill>
              <a:srgbClr val="1B344B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859536" y="2276856"/>
            <a:ext cx="50292" cy="320040"/>
          </a:xfrm>
          <a:prstGeom prst="rect">
            <a:avLst/>
          </a:prstGeom>
          <a:solidFill>
            <a:srgbClr val="137F69"/>
          </a:solidFill>
          <a:ln w="12700">
            <a:solidFill>
              <a:srgbClr val="467E73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1042416" y="2258568"/>
            <a:ext cx="28895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37F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AlarmManager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941832" y="2761488"/>
            <a:ext cx="2953512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735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Menjadwalkan aksi menurut waktu tertentu. Dapat dipakai untuk pengingat lokal dan bekerja di luar lifecycle aplikasi.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4370832" y="2057400"/>
            <a:ext cx="3456432" cy="3154680"/>
          </a:xfrm>
          <a:prstGeom prst="roundRect">
            <a:avLst/>
          </a:prstGeom>
          <a:solidFill>
            <a:srgbClr val="F9FCFD"/>
          </a:solidFill>
          <a:ln w="12700">
            <a:solidFill>
              <a:srgbClr val="1B344B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4544568" y="2276856"/>
            <a:ext cx="50292" cy="320040"/>
          </a:xfrm>
          <a:prstGeom prst="rect">
            <a:avLst/>
          </a:prstGeom>
          <a:solidFill>
            <a:srgbClr val="1586C9"/>
          </a:solidFill>
          <a:ln w="12700">
            <a:solidFill>
              <a:srgbClr val="54B6F3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4727448" y="2258568"/>
            <a:ext cx="28895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586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JobScheduler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4626864" y="2761488"/>
            <a:ext cx="2953512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735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Menjalankan tugas terjadwal ketika kondisi dalam JobInfo terpenuhi, sehingga lebih efisien untuk sumber daya.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8055864" y="2057400"/>
            <a:ext cx="3456432" cy="3154680"/>
          </a:xfrm>
          <a:prstGeom prst="roundRect">
            <a:avLst/>
          </a:prstGeom>
          <a:solidFill>
            <a:srgbClr val="F9FCFD"/>
          </a:solidFill>
          <a:ln w="12700">
            <a:solidFill>
              <a:srgbClr val="1B344B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8229600" y="2276856"/>
            <a:ext cx="50292" cy="320040"/>
          </a:xfrm>
          <a:prstGeom prst="rect">
            <a:avLst/>
          </a:prstGeom>
          <a:solidFill>
            <a:srgbClr val="F6C977"/>
          </a:solidFill>
          <a:ln w="12700">
            <a:solidFill>
              <a:srgbClr val="F6C977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8412480" y="2258568"/>
            <a:ext cx="28895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6C9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Notification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8311896" y="2761488"/>
            <a:ext cx="2953512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735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Menampilkan informasi aplikasi pada status bar dan notification drawer walau aplikasi tidak di depan.</a:t>
            </a:r>
            <a:endParaRPr lang="en-US" sz="1450" dirty="0"/>
          </a:p>
        </p:txBody>
      </p:sp>
      <p:sp>
        <p:nvSpPr>
          <p:cNvPr id="23" name="Oval 22"/>
          <p:cNvSpPr/>
          <p:nvPr/>
        </p:nvSpPr>
        <p:spPr>
          <a:xfrm>
            <a:off x="11475720" y="6053328"/>
            <a:ext cx="384048" cy="384048"/>
          </a:xfrm>
          <a:prstGeom prst="ellipse">
            <a:avLst/>
          </a:prstGeom>
          <a:solidFill>
            <a:srgbClr val="D1ED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8FCDB3"/>
          </a:solidFill>
          <a:ln w="12700">
            <a:solidFill>
              <a:srgbClr val="A0BEAC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9875520" y="-1645920"/>
            <a:ext cx="4114800" cy="4114800"/>
          </a:xfrm>
          <a:prstGeom prst="ellipse">
            <a:avLst/>
          </a:prstGeom>
          <a:solidFill>
            <a:srgbClr val="E9F8F2"/>
          </a:solidFill>
          <a:ln w="12700">
            <a:solidFill>
              <a:srgbClr val="EDF3F0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10789920" y="-731520"/>
            <a:ext cx="2194560" cy="2194560"/>
          </a:xfrm>
          <a:prstGeom prst="ellipse">
            <a:avLst/>
          </a:prstGeom>
          <a:solidFill>
            <a:srgbClr val="E9F3FB"/>
          </a:solidFill>
          <a:ln w="12700">
            <a:solidFill>
              <a:srgbClr val="E4E9F7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02920" y="6327648"/>
            <a:ext cx="11064240" cy="0"/>
          </a:xfrm>
          <a:prstGeom prst="line">
            <a:avLst/>
          </a:prstGeom>
          <a:solidFill>
            <a:srgbClr val="F9FCFD"/>
          </a:solidFill>
          <a:ln w="12700">
            <a:solidFill>
              <a:srgbClr val="1B344B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30352" y="283464"/>
            <a:ext cx="64008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30" kern="0" dirty="0">
                <a:solidFill>
                  <a:srgbClr val="137F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ANDROID  /  JAVA  /  MOBILE DEVELOPMENT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30352" y="731520"/>
            <a:ext cx="10744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735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AlarmManager vs JobScheduler</a:t>
            </a:r>
            <a:endParaRPr lang="en-US" sz="2900" dirty="0"/>
          </a:p>
        </p:txBody>
      </p:sp>
      <p:sp>
        <p:nvSpPr>
          <p:cNvPr id="8" name="Text 6"/>
          <p:cNvSpPr/>
          <p:nvPr/>
        </p:nvSpPr>
        <p:spPr>
          <a:xfrm>
            <a:off x="539496" y="1389888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870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Pemilihan penjadwal disesuaikan dengan kebutuhan dan efisiensi perangkat.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48640" y="6483096"/>
            <a:ext cx="8229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5870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BAB 4 • BACKGROUND TASK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11128248" y="6446520"/>
            <a:ext cx="5029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137F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822960" y="2103120"/>
            <a:ext cx="109728" cy="109728"/>
          </a:xfrm>
          <a:prstGeom prst="ellipse">
            <a:avLst/>
          </a:prstGeom>
          <a:solidFill>
            <a:srgbClr val="8FCDB3"/>
          </a:solidFill>
          <a:ln w="12700">
            <a:solidFill>
              <a:srgbClr val="A0BEAC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1115568" y="2011680"/>
            <a:ext cx="10314432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735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AlarmManager sesuai untuk penjadwalan berbasis waktu, seperti pengingat.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822960" y="2724912"/>
            <a:ext cx="109728" cy="109728"/>
          </a:xfrm>
          <a:prstGeom prst="ellipse">
            <a:avLst/>
          </a:prstGeom>
          <a:solidFill>
            <a:srgbClr val="8FCDB3"/>
          </a:solidFill>
          <a:ln w="12700">
            <a:solidFill>
              <a:srgbClr val="A0BEAC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1115568" y="2633472"/>
            <a:ext cx="10314432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735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Alarm yang dijadwalkan dapat hilang setelah perangkat restart.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822960" y="3346704"/>
            <a:ext cx="109728" cy="109728"/>
          </a:xfrm>
          <a:prstGeom prst="ellipse">
            <a:avLst/>
          </a:prstGeom>
          <a:solidFill>
            <a:srgbClr val="8FCDB3"/>
          </a:solidFill>
          <a:ln w="12700">
            <a:solidFill>
              <a:srgbClr val="A0BEAC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1115568" y="3255264"/>
            <a:ext cx="10314432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735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JobScheduler menyusun tugas memakai JobInfo dan menjalankannya via JobService.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822960" y="3968496"/>
            <a:ext cx="109728" cy="109728"/>
          </a:xfrm>
          <a:prstGeom prst="ellipse">
            <a:avLst/>
          </a:prstGeom>
          <a:solidFill>
            <a:srgbClr val="8FCDB3"/>
          </a:solidFill>
          <a:ln w="12700">
            <a:solidFill>
              <a:srgbClr val="A0BEAC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1115568" y="3877056"/>
            <a:ext cx="10314432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735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JobScheduler tersedia mulai Android 5.0 (API 21).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822960" y="4590288"/>
            <a:ext cx="109728" cy="109728"/>
          </a:xfrm>
          <a:prstGeom prst="ellipse">
            <a:avLst/>
          </a:prstGeom>
          <a:solidFill>
            <a:srgbClr val="8FCDB3"/>
          </a:solidFill>
          <a:ln w="12700">
            <a:solidFill>
              <a:srgbClr val="A0BEAC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1115568" y="4498848"/>
            <a:ext cx="10314432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735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Kondisi pekerjaan perlu dipilih agar daya baterai dan data lebih hemat.</a:t>
            </a:r>
            <a:endParaRPr lang="en-US" sz="1800" dirty="0"/>
          </a:p>
        </p:txBody>
      </p:sp>
      <p:sp>
        <p:nvSpPr>
          <p:cNvPr id="21" name="Oval 20"/>
          <p:cNvSpPr/>
          <p:nvPr/>
        </p:nvSpPr>
        <p:spPr>
          <a:xfrm>
            <a:off x="11475720" y="6053328"/>
            <a:ext cx="384048" cy="384048"/>
          </a:xfrm>
          <a:prstGeom prst="ellipse">
            <a:avLst/>
          </a:prstGeom>
          <a:solidFill>
            <a:srgbClr val="D1ED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8FCDB3"/>
          </a:solidFill>
          <a:ln w="12700">
            <a:solidFill>
              <a:srgbClr val="A0BEAC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9875520" y="-1645920"/>
            <a:ext cx="4114800" cy="4114800"/>
          </a:xfrm>
          <a:prstGeom prst="ellipse">
            <a:avLst/>
          </a:prstGeom>
          <a:solidFill>
            <a:srgbClr val="E9F8F2"/>
          </a:solidFill>
          <a:ln w="12700">
            <a:solidFill>
              <a:srgbClr val="EDF3F0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10789920" y="-731520"/>
            <a:ext cx="2194560" cy="2194560"/>
          </a:xfrm>
          <a:prstGeom prst="ellipse">
            <a:avLst/>
          </a:prstGeom>
          <a:solidFill>
            <a:srgbClr val="E9F3FB"/>
          </a:solidFill>
          <a:ln w="12700">
            <a:solidFill>
              <a:srgbClr val="E4E9F7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02920" y="6327648"/>
            <a:ext cx="11064240" cy="0"/>
          </a:xfrm>
          <a:prstGeom prst="line">
            <a:avLst/>
          </a:prstGeom>
          <a:solidFill>
            <a:srgbClr val="F9FCFD"/>
          </a:solidFill>
          <a:ln w="12700">
            <a:solidFill>
              <a:srgbClr val="1B344B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30352" y="283464"/>
            <a:ext cx="64008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30" kern="0" dirty="0">
                <a:solidFill>
                  <a:srgbClr val="137F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ANDROID  /  JAVA  /  MOBILE DEVELOPMENT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30352" y="731520"/>
            <a:ext cx="10744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735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Membangun notifikasi Android</a:t>
            </a:r>
            <a:endParaRPr lang="en-US" sz="2900" dirty="0"/>
          </a:p>
        </p:txBody>
      </p:sp>
      <p:sp>
        <p:nvSpPr>
          <p:cNvPr id="8" name="Text 6"/>
          <p:cNvSpPr/>
          <p:nvPr/>
        </p:nvSpPr>
        <p:spPr>
          <a:xfrm>
            <a:off x="539496" y="1389888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870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Notifikasi menyampaikan informasi serta aksi meskipun aplikasi tidak sedang terbuka.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48640" y="6483096"/>
            <a:ext cx="8229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5870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BAB 4 • BACKGROUND TASK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11128248" y="6446520"/>
            <a:ext cx="5029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137F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822960" y="2103120"/>
            <a:ext cx="109728" cy="109728"/>
          </a:xfrm>
          <a:prstGeom prst="ellipse">
            <a:avLst/>
          </a:prstGeom>
          <a:solidFill>
            <a:srgbClr val="8FCDB3"/>
          </a:solidFill>
          <a:ln w="12700">
            <a:solidFill>
              <a:srgbClr val="A0BEAC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1115568" y="2011680"/>
            <a:ext cx="10314432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735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Buat NotificationChannel untuk perangkat Android 8.0 (API 26) ke atas.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822960" y="2724912"/>
            <a:ext cx="109728" cy="109728"/>
          </a:xfrm>
          <a:prstGeom prst="ellipse">
            <a:avLst/>
          </a:prstGeom>
          <a:solidFill>
            <a:srgbClr val="8FCDB3"/>
          </a:solidFill>
          <a:ln w="12700">
            <a:solidFill>
              <a:srgbClr val="A0BEAC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1115568" y="2633472"/>
            <a:ext cx="10314432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735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Gunakan NotificationCompat.Builder untuk icon, judul, dan isi pesan.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822960" y="3346704"/>
            <a:ext cx="109728" cy="109728"/>
          </a:xfrm>
          <a:prstGeom prst="ellipse">
            <a:avLst/>
          </a:prstGeom>
          <a:solidFill>
            <a:srgbClr val="8FCDB3"/>
          </a:solidFill>
          <a:ln w="12700">
            <a:solidFill>
              <a:srgbClr val="A0BEAC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1115568" y="3255264"/>
            <a:ext cx="10314432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735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NotificationManager mengirim/memperbarui notifikasi melalui ID.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822960" y="3968496"/>
            <a:ext cx="109728" cy="109728"/>
          </a:xfrm>
          <a:prstGeom prst="ellipse">
            <a:avLst/>
          </a:prstGeom>
          <a:solidFill>
            <a:srgbClr val="8FCDB3"/>
          </a:solidFill>
          <a:ln w="12700">
            <a:solidFill>
              <a:srgbClr val="A0BEAC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1115568" y="3877056"/>
            <a:ext cx="10314432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735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PendingIntent memungkinkan pengguna membuka Activity dari notifikasi.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822960" y="4590288"/>
            <a:ext cx="109728" cy="109728"/>
          </a:xfrm>
          <a:prstGeom prst="ellipse">
            <a:avLst/>
          </a:prstGeom>
          <a:solidFill>
            <a:srgbClr val="8FCDB3"/>
          </a:solidFill>
          <a:ln w="12700">
            <a:solidFill>
              <a:srgbClr val="A0BEAC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1115568" y="4498848"/>
            <a:ext cx="10314432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735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Pengembang dapat menambahkan aksi, prioritas, dan membatalkan notifikasi.</a:t>
            </a:r>
            <a:endParaRPr lang="en-US" sz="1800" dirty="0"/>
          </a:p>
        </p:txBody>
      </p:sp>
      <p:sp>
        <p:nvSpPr>
          <p:cNvPr id="21" name="Oval 20"/>
          <p:cNvSpPr/>
          <p:nvPr/>
        </p:nvSpPr>
        <p:spPr>
          <a:xfrm>
            <a:off x="11475720" y="6053328"/>
            <a:ext cx="384048" cy="384048"/>
          </a:xfrm>
          <a:prstGeom prst="ellipse">
            <a:avLst/>
          </a:prstGeom>
          <a:solidFill>
            <a:srgbClr val="D1ED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8FCDB3"/>
          </a:solidFill>
          <a:ln w="12700">
            <a:solidFill>
              <a:srgbClr val="A0BEAC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9875520" y="-1645920"/>
            <a:ext cx="4114800" cy="4114800"/>
          </a:xfrm>
          <a:prstGeom prst="ellipse">
            <a:avLst/>
          </a:prstGeom>
          <a:solidFill>
            <a:srgbClr val="E9F8F2"/>
          </a:solidFill>
          <a:ln w="12700">
            <a:solidFill>
              <a:srgbClr val="EDF3F0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10789920" y="-731520"/>
            <a:ext cx="2194560" cy="2194560"/>
          </a:xfrm>
          <a:prstGeom prst="ellipse">
            <a:avLst/>
          </a:prstGeom>
          <a:solidFill>
            <a:srgbClr val="E9F3FB"/>
          </a:solidFill>
          <a:ln w="12700">
            <a:solidFill>
              <a:srgbClr val="E4E9F7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02920" y="6327648"/>
            <a:ext cx="11064240" cy="0"/>
          </a:xfrm>
          <a:prstGeom prst="line">
            <a:avLst/>
          </a:prstGeom>
          <a:solidFill>
            <a:srgbClr val="F9FCFD"/>
          </a:solidFill>
          <a:ln w="12700">
            <a:solidFill>
              <a:srgbClr val="1B344B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30352" y="283464"/>
            <a:ext cx="64008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30" kern="0" dirty="0">
                <a:solidFill>
                  <a:srgbClr val="137F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ANDROID  /  JAVA  /  MOBILE DEVELOPMENT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30352" y="731520"/>
            <a:ext cx="10744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735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Pilihan menyimpan data di Android</a:t>
            </a:r>
            <a:endParaRPr lang="en-US" sz="2900" dirty="0"/>
          </a:p>
        </p:txBody>
      </p:sp>
      <p:sp>
        <p:nvSpPr>
          <p:cNvPr id="8" name="Text 6"/>
          <p:cNvSpPr/>
          <p:nvPr/>
        </p:nvSpPr>
        <p:spPr>
          <a:xfrm>
            <a:off x="539496" y="1389888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870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Lokasi penyimpanan dipilih berdasarkan jenis, akses, dan kebutuhan data.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48640" y="6483096"/>
            <a:ext cx="8229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5870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BAB 5 • PENYIMPANAN DATA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11128248" y="6446520"/>
            <a:ext cx="5029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137F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17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40080" y="1956816"/>
            <a:ext cx="3493008" cy="3429000"/>
          </a:xfrm>
          <a:prstGeom prst="roundRect">
            <a:avLst/>
          </a:prstGeom>
          <a:solidFill>
            <a:srgbClr val="F9FCFD"/>
          </a:solidFill>
          <a:ln w="12700">
            <a:solidFill>
              <a:srgbClr val="1B344B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813816" y="2176272"/>
            <a:ext cx="50292" cy="320040"/>
          </a:xfrm>
          <a:prstGeom prst="rect">
            <a:avLst/>
          </a:prstGeom>
          <a:solidFill>
            <a:srgbClr val="137F69"/>
          </a:solidFill>
          <a:ln w="12700">
            <a:solidFill>
              <a:srgbClr val="467E73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996696" y="2157984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37F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SharedPreferences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896112" y="2660904"/>
            <a:ext cx="2990088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735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sederhana berbentuk key–value seperti preferensi atau skor aplikasi.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4352544" y="1956816"/>
            <a:ext cx="3493008" cy="3429000"/>
          </a:xfrm>
          <a:prstGeom prst="roundRect">
            <a:avLst/>
          </a:prstGeom>
          <a:solidFill>
            <a:srgbClr val="F9FCFD"/>
          </a:solidFill>
          <a:ln w="12700">
            <a:solidFill>
              <a:srgbClr val="1B344B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4526280" y="2176272"/>
            <a:ext cx="50292" cy="320040"/>
          </a:xfrm>
          <a:prstGeom prst="rect">
            <a:avLst/>
          </a:prstGeom>
          <a:solidFill>
            <a:srgbClr val="1586C9"/>
          </a:solidFill>
          <a:ln w="12700">
            <a:solidFill>
              <a:srgbClr val="54B6F3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4709160" y="2157984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586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File internal/eksternal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4608576" y="2660904"/>
            <a:ext cx="2990088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735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Internal untuk berkas privat aplikasi; eksternal untuk data yang dapat dibagikan atau diakses pengguna.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8065008" y="1956816"/>
            <a:ext cx="3493008" cy="3429000"/>
          </a:xfrm>
          <a:prstGeom prst="roundRect">
            <a:avLst/>
          </a:prstGeom>
          <a:solidFill>
            <a:srgbClr val="F9FCFD"/>
          </a:solidFill>
          <a:ln w="12700">
            <a:solidFill>
              <a:srgbClr val="1B344B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8238744" y="2176272"/>
            <a:ext cx="50292" cy="320040"/>
          </a:xfrm>
          <a:prstGeom prst="rect">
            <a:avLst/>
          </a:prstGeom>
          <a:solidFill>
            <a:srgbClr val="F6C977"/>
          </a:solidFill>
          <a:ln w="12700">
            <a:solidFill>
              <a:srgbClr val="F6C977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8421624" y="2157984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6C9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SQLite &amp; layanan lain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8321040" y="2660904"/>
            <a:ext cx="2990088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735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SQLite mengelola database lokal terstruktur; ada pula Content Provider dan penyimpanan cloud.</a:t>
            </a:r>
            <a:endParaRPr lang="en-US" sz="1450" dirty="0"/>
          </a:p>
        </p:txBody>
      </p:sp>
      <p:sp>
        <p:nvSpPr>
          <p:cNvPr id="23" name="Oval 22"/>
          <p:cNvSpPr/>
          <p:nvPr/>
        </p:nvSpPr>
        <p:spPr>
          <a:xfrm>
            <a:off x="11475720" y="6053328"/>
            <a:ext cx="384048" cy="384048"/>
          </a:xfrm>
          <a:prstGeom prst="ellipse">
            <a:avLst/>
          </a:prstGeom>
          <a:solidFill>
            <a:srgbClr val="D1ED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8FCDB3"/>
          </a:solidFill>
          <a:ln w="12700">
            <a:solidFill>
              <a:srgbClr val="A0BEAC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9875520" y="-1645920"/>
            <a:ext cx="4114800" cy="4114800"/>
          </a:xfrm>
          <a:prstGeom prst="ellipse">
            <a:avLst/>
          </a:prstGeom>
          <a:solidFill>
            <a:srgbClr val="E9F8F2"/>
          </a:solidFill>
          <a:ln w="12700">
            <a:solidFill>
              <a:srgbClr val="EDF3F0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10789920" y="-731520"/>
            <a:ext cx="2194560" cy="2194560"/>
          </a:xfrm>
          <a:prstGeom prst="ellipse">
            <a:avLst/>
          </a:prstGeom>
          <a:solidFill>
            <a:srgbClr val="E9F3FB"/>
          </a:solidFill>
          <a:ln w="12700">
            <a:solidFill>
              <a:srgbClr val="E4E9F7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02920" y="6327648"/>
            <a:ext cx="11064240" cy="0"/>
          </a:xfrm>
          <a:prstGeom prst="line">
            <a:avLst/>
          </a:prstGeom>
          <a:solidFill>
            <a:srgbClr val="F9FCFD"/>
          </a:solidFill>
          <a:ln w="12700">
            <a:solidFill>
              <a:srgbClr val="1B344B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30352" y="283464"/>
            <a:ext cx="64008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30" kern="0" dirty="0">
                <a:solidFill>
                  <a:srgbClr val="137F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ANDROID  /  JAVA  /  MOBILE DEVELOPMENT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30352" y="731520"/>
            <a:ext cx="10744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735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SharedPreferences</a:t>
            </a:r>
            <a:endParaRPr lang="en-US" sz="2900" dirty="0"/>
          </a:p>
        </p:txBody>
      </p:sp>
      <p:sp>
        <p:nvSpPr>
          <p:cNvPr id="8" name="Text 6"/>
          <p:cNvSpPr/>
          <p:nvPr/>
        </p:nvSpPr>
        <p:spPr>
          <a:xfrm>
            <a:off x="539496" y="1389888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870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Mekanisme untuk menyimpan nilai primitif: String, int, boolean, float, dan long.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48640" y="6483096"/>
            <a:ext cx="8229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5870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BAB 5 • PENYIMPANAN DATA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11128248" y="6446520"/>
            <a:ext cx="5029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137F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822960" y="2103120"/>
            <a:ext cx="109728" cy="109728"/>
          </a:xfrm>
          <a:prstGeom prst="ellipse">
            <a:avLst/>
          </a:prstGeom>
          <a:solidFill>
            <a:srgbClr val="8FCDB3"/>
          </a:solidFill>
          <a:ln w="12700">
            <a:solidFill>
              <a:srgbClr val="A0BEAC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1115568" y="2011680"/>
            <a:ext cx="10314432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735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ditata sebagai pasangan key–value dalam penyimpanan aplikasi.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822960" y="2724912"/>
            <a:ext cx="109728" cy="109728"/>
          </a:xfrm>
          <a:prstGeom prst="ellipse">
            <a:avLst/>
          </a:prstGeom>
          <a:solidFill>
            <a:srgbClr val="8FCDB3"/>
          </a:solidFill>
          <a:ln w="12700">
            <a:solidFill>
              <a:srgbClr val="A0BEAC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1115568" y="2633472"/>
            <a:ext cx="10314432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735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getSharedPreferences() dipakai untuk mengakses berkas preferensi.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822960" y="3346704"/>
            <a:ext cx="109728" cy="109728"/>
          </a:xfrm>
          <a:prstGeom prst="ellipse">
            <a:avLst/>
          </a:prstGeom>
          <a:solidFill>
            <a:srgbClr val="8FCDB3"/>
          </a:solidFill>
          <a:ln w="12700">
            <a:solidFill>
              <a:srgbClr val="A0BEAC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1115568" y="3255264"/>
            <a:ext cx="10314432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735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Editor.putString(), putInt(), dan metode serupa menulis nilai.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822960" y="3968496"/>
            <a:ext cx="109728" cy="109728"/>
          </a:xfrm>
          <a:prstGeom prst="ellipse">
            <a:avLst/>
          </a:prstGeom>
          <a:solidFill>
            <a:srgbClr val="8FCDB3"/>
          </a:solidFill>
          <a:ln w="12700">
            <a:solidFill>
              <a:srgbClr val="A0BEAC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1115568" y="3877056"/>
            <a:ext cx="10314432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735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apply() atau commit() menyimpan perubahan; getString() / getInt() membaca.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822960" y="4590288"/>
            <a:ext cx="109728" cy="109728"/>
          </a:xfrm>
          <a:prstGeom prst="ellipse">
            <a:avLst/>
          </a:prstGeom>
          <a:solidFill>
            <a:srgbClr val="8FCDB3"/>
          </a:solidFill>
          <a:ln w="12700">
            <a:solidFill>
              <a:srgbClr val="A0BEAC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1115568" y="4498848"/>
            <a:ext cx="10314432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735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clear() menghapus preferensi, sedangkan SavedInstanceState menjaga status sementara.</a:t>
            </a:r>
            <a:endParaRPr lang="en-US" sz="1800" dirty="0"/>
          </a:p>
        </p:txBody>
      </p:sp>
      <p:sp>
        <p:nvSpPr>
          <p:cNvPr id="21" name="Oval 20"/>
          <p:cNvSpPr/>
          <p:nvPr/>
        </p:nvSpPr>
        <p:spPr>
          <a:xfrm>
            <a:off x="11475720" y="6053328"/>
            <a:ext cx="384048" cy="384048"/>
          </a:xfrm>
          <a:prstGeom prst="ellipse">
            <a:avLst/>
          </a:prstGeom>
          <a:solidFill>
            <a:srgbClr val="D1ED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8FCDB3"/>
          </a:solidFill>
          <a:ln w="12700">
            <a:solidFill>
              <a:srgbClr val="A0BEAC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9875520" y="-1645920"/>
            <a:ext cx="4114800" cy="4114800"/>
          </a:xfrm>
          <a:prstGeom prst="ellipse">
            <a:avLst/>
          </a:prstGeom>
          <a:solidFill>
            <a:srgbClr val="E9F8F2"/>
          </a:solidFill>
          <a:ln w="12700">
            <a:solidFill>
              <a:srgbClr val="EDF3F0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10789920" y="-731520"/>
            <a:ext cx="2194560" cy="2194560"/>
          </a:xfrm>
          <a:prstGeom prst="ellipse">
            <a:avLst/>
          </a:prstGeom>
          <a:solidFill>
            <a:srgbClr val="E9F3FB"/>
          </a:solidFill>
          <a:ln w="12700">
            <a:solidFill>
              <a:srgbClr val="E4E9F7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02920" y="6327648"/>
            <a:ext cx="11064240" cy="0"/>
          </a:xfrm>
          <a:prstGeom prst="line">
            <a:avLst/>
          </a:prstGeom>
          <a:solidFill>
            <a:srgbClr val="F9FCFD"/>
          </a:solidFill>
          <a:ln w="12700">
            <a:solidFill>
              <a:srgbClr val="1B344B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30352" y="283464"/>
            <a:ext cx="64008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30" kern="0" dirty="0">
                <a:solidFill>
                  <a:srgbClr val="137F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ANDROID  /  JAVA  /  MOBILE DEVELOPMENT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30352" y="731520"/>
            <a:ext cx="10744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735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SQLite dan operasi CRUD</a:t>
            </a:r>
            <a:endParaRPr lang="en-US" sz="2900" dirty="0"/>
          </a:p>
        </p:txBody>
      </p:sp>
      <p:sp>
        <p:nvSpPr>
          <p:cNvPr id="8" name="Text 6"/>
          <p:cNvSpPr/>
          <p:nvPr/>
        </p:nvSpPr>
        <p:spPr>
          <a:xfrm>
            <a:off x="539496" y="1389888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870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SQLite merupakan database lokal untuk data terstruktur dalam aplikasi Android.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48640" y="6483096"/>
            <a:ext cx="8229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5870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BAB 5 • PENYIMPANAN DATA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11128248" y="6446520"/>
            <a:ext cx="5029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137F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19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822960" y="2103120"/>
            <a:ext cx="109728" cy="109728"/>
          </a:xfrm>
          <a:prstGeom prst="ellipse">
            <a:avLst/>
          </a:prstGeom>
          <a:solidFill>
            <a:srgbClr val="8FCDB3"/>
          </a:solidFill>
          <a:ln w="12700">
            <a:solidFill>
              <a:srgbClr val="A0BEAC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1115568" y="2011680"/>
            <a:ext cx="10314432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735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SQLiteOpenHelper membantu membuat dan mengelola versi database.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822960" y="2724912"/>
            <a:ext cx="109728" cy="109728"/>
          </a:xfrm>
          <a:prstGeom prst="ellipse">
            <a:avLst/>
          </a:prstGeom>
          <a:solidFill>
            <a:srgbClr val="8FCDB3"/>
          </a:solidFill>
          <a:ln w="12700">
            <a:solidFill>
              <a:srgbClr val="A0BEAC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1115568" y="2633472"/>
            <a:ext cx="10314432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735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onCreate(SQLiteDatabase) mengeksekusi SQL untuk membuat tabel.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822960" y="3346704"/>
            <a:ext cx="109728" cy="109728"/>
          </a:xfrm>
          <a:prstGeom prst="ellipse">
            <a:avLst/>
          </a:prstGeom>
          <a:solidFill>
            <a:srgbClr val="8FCDB3"/>
          </a:solidFill>
          <a:ln w="12700">
            <a:solidFill>
              <a:srgbClr val="A0BEAC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1115568" y="3255264"/>
            <a:ext cx="10314432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735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SQLiteDatabase mengelola operasi database; Cursor membaca hasil query.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822960" y="3968496"/>
            <a:ext cx="109728" cy="109728"/>
          </a:xfrm>
          <a:prstGeom prst="ellipse">
            <a:avLst/>
          </a:prstGeom>
          <a:solidFill>
            <a:srgbClr val="8FCDB3"/>
          </a:solidFill>
          <a:ln w="12700">
            <a:solidFill>
              <a:srgbClr val="A0BEAC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1115568" y="3877056"/>
            <a:ext cx="10314432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735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CRUD = Create, Read, Update, Delete.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822960" y="4590288"/>
            <a:ext cx="109728" cy="109728"/>
          </a:xfrm>
          <a:prstGeom prst="ellipse">
            <a:avLst/>
          </a:prstGeom>
          <a:solidFill>
            <a:srgbClr val="8FCDB3"/>
          </a:solidFill>
          <a:ln w="12700">
            <a:solidFill>
              <a:srgbClr val="A0BEAC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1115568" y="4498848"/>
            <a:ext cx="10314432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735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Contoh dalam modul: aplikasi biodata untuk tambah, tampil, ubah, dan hapus.</a:t>
            </a:r>
            <a:endParaRPr lang="en-US" sz="1800" dirty="0"/>
          </a:p>
        </p:txBody>
      </p:sp>
      <p:sp>
        <p:nvSpPr>
          <p:cNvPr id="21" name="Oval 20"/>
          <p:cNvSpPr/>
          <p:nvPr/>
        </p:nvSpPr>
        <p:spPr>
          <a:xfrm>
            <a:off x="11475720" y="6053328"/>
            <a:ext cx="384048" cy="384048"/>
          </a:xfrm>
          <a:prstGeom prst="ellipse">
            <a:avLst/>
          </a:prstGeom>
          <a:solidFill>
            <a:srgbClr val="D1ED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8FCDB3"/>
          </a:solidFill>
          <a:ln w="12700">
            <a:solidFill>
              <a:srgbClr val="A0BEAC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9875520" y="-1645920"/>
            <a:ext cx="4114800" cy="4114800"/>
          </a:xfrm>
          <a:prstGeom prst="ellipse">
            <a:avLst/>
          </a:prstGeom>
          <a:solidFill>
            <a:srgbClr val="E9F8F2"/>
          </a:solidFill>
          <a:ln w="12700">
            <a:solidFill>
              <a:srgbClr val="EDF3F0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10789920" y="-731520"/>
            <a:ext cx="2194560" cy="2194560"/>
          </a:xfrm>
          <a:prstGeom prst="ellipse">
            <a:avLst/>
          </a:prstGeom>
          <a:solidFill>
            <a:srgbClr val="E9F3FB"/>
          </a:solidFill>
          <a:ln w="12700">
            <a:solidFill>
              <a:srgbClr val="E4E9F7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02920" y="6327648"/>
            <a:ext cx="11064240" cy="0"/>
          </a:xfrm>
          <a:prstGeom prst="line">
            <a:avLst/>
          </a:prstGeom>
          <a:solidFill>
            <a:srgbClr val="F9FCFD"/>
          </a:solidFill>
          <a:ln w="12700">
            <a:solidFill>
              <a:srgbClr val="1B344B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30352" y="283464"/>
            <a:ext cx="64008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30" kern="0" dirty="0">
                <a:solidFill>
                  <a:srgbClr val="137F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ANDROID  /  JAVA  /  MOBILE DEVELOPMENT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30352" y="731520"/>
            <a:ext cx="10744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735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Mengenal Firebase Realtime Database</a:t>
            </a:r>
            <a:endParaRPr lang="en-US" sz="2900" dirty="0"/>
          </a:p>
        </p:txBody>
      </p:sp>
      <p:sp>
        <p:nvSpPr>
          <p:cNvPr id="8" name="Text 6"/>
          <p:cNvSpPr/>
          <p:nvPr/>
        </p:nvSpPr>
        <p:spPr>
          <a:xfrm>
            <a:off x="539496" y="1389888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870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Firebase menyimpan serta menyinkronkan data aplikasi melalui cloud.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48640" y="6483096"/>
            <a:ext cx="8229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5870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BAB 6 • FIREBASE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11128248" y="6446520"/>
            <a:ext cx="5029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137F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822960" y="2103120"/>
            <a:ext cx="109728" cy="109728"/>
          </a:xfrm>
          <a:prstGeom prst="ellipse">
            <a:avLst/>
          </a:prstGeom>
          <a:solidFill>
            <a:srgbClr val="8FCDB3"/>
          </a:solidFill>
          <a:ln w="12700">
            <a:solidFill>
              <a:srgbClr val="A0BEAC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1115568" y="2011680"/>
            <a:ext cx="10314432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735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Realtime Database menggunakan model data NoSQL dalam bentuk JSON.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822960" y="2724912"/>
            <a:ext cx="109728" cy="109728"/>
          </a:xfrm>
          <a:prstGeom prst="ellipse">
            <a:avLst/>
          </a:prstGeom>
          <a:solidFill>
            <a:srgbClr val="8FCDB3"/>
          </a:solidFill>
          <a:ln w="12700">
            <a:solidFill>
              <a:srgbClr val="A0BEAC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1115568" y="2633472"/>
            <a:ext cx="10314432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735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dapat tersinkronisasi antar-client saat terhubung.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822960" y="3346704"/>
            <a:ext cx="109728" cy="109728"/>
          </a:xfrm>
          <a:prstGeom prst="ellipse">
            <a:avLst/>
          </a:prstGeom>
          <a:solidFill>
            <a:srgbClr val="8FCDB3"/>
          </a:solidFill>
          <a:ln w="12700">
            <a:solidFill>
              <a:srgbClr val="A0BEAC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1115568" y="3255264"/>
            <a:ext cx="10314432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735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Firebase mengurangi kebutuhan mengelola server sendiri.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822960" y="3968496"/>
            <a:ext cx="109728" cy="109728"/>
          </a:xfrm>
          <a:prstGeom prst="ellipse">
            <a:avLst/>
          </a:prstGeom>
          <a:solidFill>
            <a:srgbClr val="8FCDB3"/>
          </a:solidFill>
          <a:ln w="12700">
            <a:solidFill>
              <a:srgbClr val="A0BEAC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1115568" y="3877056"/>
            <a:ext cx="10314432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735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Contoh modul: aplikasi Agenda dengan operasi CRUD.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822960" y="4590288"/>
            <a:ext cx="109728" cy="109728"/>
          </a:xfrm>
          <a:prstGeom prst="ellipse">
            <a:avLst/>
          </a:prstGeom>
          <a:solidFill>
            <a:srgbClr val="8FCDB3"/>
          </a:solidFill>
          <a:ln w="12700">
            <a:solidFill>
              <a:srgbClr val="A0BEAC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1115568" y="4498848"/>
            <a:ext cx="10314432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735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Aplikasi dapat menggunakan dukungan data offline dan sinkronisasi kembali.</a:t>
            </a:r>
            <a:endParaRPr lang="en-US" sz="1800" dirty="0"/>
          </a:p>
        </p:txBody>
      </p:sp>
      <p:sp>
        <p:nvSpPr>
          <p:cNvPr id="21" name="Oval 20"/>
          <p:cNvSpPr/>
          <p:nvPr/>
        </p:nvSpPr>
        <p:spPr>
          <a:xfrm>
            <a:off x="11475720" y="6053328"/>
            <a:ext cx="384048" cy="384048"/>
          </a:xfrm>
          <a:prstGeom prst="ellipse">
            <a:avLst/>
          </a:prstGeom>
          <a:solidFill>
            <a:srgbClr val="D1ED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8FCDB3"/>
          </a:solidFill>
          <a:ln w="12700">
            <a:solidFill>
              <a:srgbClr val="A0BEAC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9875520" y="-1645920"/>
            <a:ext cx="4114800" cy="4114800"/>
          </a:xfrm>
          <a:prstGeom prst="ellipse">
            <a:avLst/>
          </a:prstGeom>
          <a:solidFill>
            <a:srgbClr val="E9F8F2"/>
          </a:solidFill>
          <a:ln w="12700">
            <a:solidFill>
              <a:srgbClr val="EDF3F0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10789920" y="-731520"/>
            <a:ext cx="2194560" cy="2194560"/>
          </a:xfrm>
          <a:prstGeom prst="ellipse">
            <a:avLst/>
          </a:prstGeom>
          <a:solidFill>
            <a:srgbClr val="E9F3FB"/>
          </a:solidFill>
          <a:ln w="12700">
            <a:solidFill>
              <a:srgbClr val="E4E9F7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02920" y="6327648"/>
            <a:ext cx="11064240" cy="0"/>
          </a:xfrm>
          <a:prstGeom prst="line">
            <a:avLst/>
          </a:prstGeom>
          <a:solidFill>
            <a:srgbClr val="F9FCFD"/>
          </a:solidFill>
          <a:ln w="12700">
            <a:solidFill>
              <a:srgbClr val="1B344B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30352" y="283464"/>
            <a:ext cx="64008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30" kern="0" dirty="0">
                <a:solidFill>
                  <a:srgbClr val="137F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ANDROID  /  JAVA  /  MOBILE DEVELOPMENT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30352" y="731520"/>
            <a:ext cx="10744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735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Menghubungkan Android dan Firebase</a:t>
            </a:r>
            <a:endParaRPr lang="en-US" sz="2900" dirty="0"/>
          </a:p>
        </p:txBody>
      </p:sp>
      <p:sp>
        <p:nvSpPr>
          <p:cNvPr id="8" name="Text 6"/>
          <p:cNvSpPr/>
          <p:nvPr/>
        </p:nvSpPr>
        <p:spPr>
          <a:xfrm>
            <a:off x="539496" y="1389888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870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Alur utama praktik dari modul Firebase.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48640" y="6483096"/>
            <a:ext cx="8229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5870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BAB 6 • FIREBASE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11128248" y="6446520"/>
            <a:ext cx="5029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137F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21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822960" y="2103120"/>
            <a:ext cx="109728" cy="109728"/>
          </a:xfrm>
          <a:prstGeom prst="ellipse">
            <a:avLst/>
          </a:prstGeom>
          <a:solidFill>
            <a:srgbClr val="8FCDB3"/>
          </a:solidFill>
          <a:ln w="12700">
            <a:solidFill>
              <a:srgbClr val="A0BEAC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1115568" y="2011680"/>
            <a:ext cx="10314432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735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Buat proyek melalui Firebase Console.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822960" y="2724912"/>
            <a:ext cx="109728" cy="109728"/>
          </a:xfrm>
          <a:prstGeom prst="ellipse">
            <a:avLst/>
          </a:prstGeom>
          <a:solidFill>
            <a:srgbClr val="8FCDB3"/>
          </a:solidFill>
          <a:ln w="12700">
            <a:solidFill>
              <a:srgbClr val="A0BEAC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1115568" y="2633472"/>
            <a:ext cx="10314432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735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Daftarkan aplikasi Android dengan package name yang sesuai.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822960" y="3346704"/>
            <a:ext cx="109728" cy="109728"/>
          </a:xfrm>
          <a:prstGeom prst="ellipse">
            <a:avLst/>
          </a:prstGeom>
          <a:solidFill>
            <a:srgbClr val="8FCDB3"/>
          </a:solidFill>
          <a:ln w="12700">
            <a:solidFill>
              <a:srgbClr val="A0BEAC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1115568" y="3255264"/>
            <a:ext cx="10314432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735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Unduh konfigurasi google-services.json dan tempatkan dalam proyek.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822960" y="3968496"/>
            <a:ext cx="109728" cy="109728"/>
          </a:xfrm>
          <a:prstGeom prst="ellipse">
            <a:avLst/>
          </a:prstGeom>
          <a:solidFill>
            <a:srgbClr val="8FCDB3"/>
          </a:solidFill>
          <a:ln w="12700">
            <a:solidFill>
              <a:srgbClr val="A0BEAC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1115568" y="3877056"/>
            <a:ext cx="10314432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735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Tambahkan konfigurasi plugin/dependensi Firebase SDK lalu sinkronkan Gradle.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822960" y="4590288"/>
            <a:ext cx="109728" cy="109728"/>
          </a:xfrm>
          <a:prstGeom prst="ellipse">
            <a:avLst/>
          </a:prstGeom>
          <a:solidFill>
            <a:srgbClr val="8FCDB3"/>
          </a:solidFill>
          <a:ln w="12700">
            <a:solidFill>
              <a:srgbClr val="A0BEAC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1115568" y="4498848"/>
            <a:ext cx="10314432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735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Aktifkan Realtime Database dan tetapkan aturan akses yang aman.</a:t>
            </a:r>
            <a:endParaRPr lang="en-US" sz="1800" dirty="0"/>
          </a:p>
        </p:txBody>
      </p:sp>
      <p:sp>
        <p:nvSpPr>
          <p:cNvPr id="21" name="Oval 20"/>
          <p:cNvSpPr/>
          <p:nvPr/>
        </p:nvSpPr>
        <p:spPr>
          <a:xfrm>
            <a:off x="11475720" y="6053328"/>
            <a:ext cx="384048" cy="384048"/>
          </a:xfrm>
          <a:prstGeom prst="ellipse">
            <a:avLst/>
          </a:prstGeom>
          <a:solidFill>
            <a:srgbClr val="D1ED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8FCDB3"/>
          </a:solidFill>
          <a:ln w="12700">
            <a:solidFill>
              <a:srgbClr val="A0BEAC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9875520" y="-1645920"/>
            <a:ext cx="4114800" cy="4114800"/>
          </a:xfrm>
          <a:prstGeom prst="ellipse">
            <a:avLst/>
          </a:prstGeom>
          <a:solidFill>
            <a:srgbClr val="E9F8F2"/>
          </a:solidFill>
          <a:ln w="12700">
            <a:solidFill>
              <a:srgbClr val="EDF3F0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10789920" y="-731520"/>
            <a:ext cx="2194560" cy="2194560"/>
          </a:xfrm>
          <a:prstGeom prst="ellipse">
            <a:avLst/>
          </a:prstGeom>
          <a:solidFill>
            <a:srgbClr val="E9F3FB"/>
          </a:solidFill>
          <a:ln w="12700">
            <a:solidFill>
              <a:srgbClr val="E4E9F7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02920" y="6327648"/>
            <a:ext cx="11064240" cy="0"/>
          </a:xfrm>
          <a:prstGeom prst="line">
            <a:avLst/>
          </a:prstGeom>
          <a:solidFill>
            <a:srgbClr val="F9FCFD"/>
          </a:solidFill>
          <a:ln w="12700">
            <a:solidFill>
              <a:srgbClr val="1B344B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30352" y="283464"/>
            <a:ext cx="64008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30" kern="0" dirty="0">
                <a:solidFill>
                  <a:srgbClr val="137F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ANDROID  /  JAVA  /  MOBILE DEVELOPMENT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30352" y="731520"/>
            <a:ext cx="10744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735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CRUD Agenda dengan Firebase</a:t>
            </a:r>
            <a:endParaRPr lang="en-US" sz="2900" dirty="0"/>
          </a:p>
        </p:txBody>
      </p:sp>
      <p:sp>
        <p:nvSpPr>
          <p:cNvPr id="8" name="Text 6"/>
          <p:cNvSpPr/>
          <p:nvPr/>
        </p:nvSpPr>
        <p:spPr>
          <a:xfrm>
            <a:off x="539496" y="1389888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870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Alur sederhana untuk menyimpan, menampilkan, mengubah, dan menghapus data agenda.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48640" y="6483096"/>
            <a:ext cx="8229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5870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BAB 6 • FIREBASE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11128248" y="6446520"/>
            <a:ext cx="5029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137F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22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822960" y="2103120"/>
            <a:ext cx="109728" cy="109728"/>
          </a:xfrm>
          <a:prstGeom prst="ellipse">
            <a:avLst/>
          </a:prstGeom>
          <a:solidFill>
            <a:srgbClr val="8FCDB3"/>
          </a:solidFill>
          <a:ln w="12700">
            <a:solidFill>
              <a:srgbClr val="A0BEAC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1115568" y="2011680"/>
            <a:ext cx="10314432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735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Create: membuat ID dengan push().getKey() dan menyimpan via setValue().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822960" y="2724912"/>
            <a:ext cx="109728" cy="109728"/>
          </a:xfrm>
          <a:prstGeom prst="ellipse">
            <a:avLst/>
          </a:prstGeom>
          <a:solidFill>
            <a:srgbClr val="8FCDB3"/>
          </a:solidFill>
          <a:ln w="12700">
            <a:solidFill>
              <a:srgbClr val="A0BEAC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1115568" y="2633472"/>
            <a:ext cx="10314432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735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Read: ValueEventListener menerima perubahan data dan memperbarui daftar.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822960" y="3346704"/>
            <a:ext cx="109728" cy="109728"/>
          </a:xfrm>
          <a:prstGeom prst="ellipse">
            <a:avLst/>
          </a:prstGeom>
          <a:solidFill>
            <a:srgbClr val="8FCDB3"/>
          </a:solidFill>
          <a:ln w="12700">
            <a:solidFill>
              <a:srgbClr val="A0BEAC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1115568" y="3255264"/>
            <a:ext cx="10314432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735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Update: menulis nilai baru pada child dengan ID yang sama.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822960" y="3968496"/>
            <a:ext cx="109728" cy="109728"/>
          </a:xfrm>
          <a:prstGeom prst="ellipse">
            <a:avLst/>
          </a:prstGeom>
          <a:solidFill>
            <a:srgbClr val="8FCDB3"/>
          </a:solidFill>
          <a:ln w="12700">
            <a:solidFill>
              <a:srgbClr val="A0BEAC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1115568" y="3877056"/>
            <a:ext cx="10314432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735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Delete: menghapus item pada reference sesuai ID.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822960" y="4590288"/>
            <a:ext cx="109728" cy="109728"/>
          </a:xfrm>
          <a:prstGeom prst="ellipse">
            <a:avLst/>
          </a:prstGeom>
          <a:solidFill>
            <a:srgbClr val="8FCDB3"/>
          </a:solidFill>
          <a:ln w="12700">
            <a:solidFill>
              <a:srgbClr val="A0BEAC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1115568" y="4498848"/>
            <a:ext cx="10314432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735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Keamanan: hindari rules read/write terbuka untuk data sungguhan.</a:t>
            </a:r>
            <a:endParaRPr lang="en-US" sz="1800" dirty="0"/>
          </a:p>
        </p:txBody>
      </p:sp>
      <p:sp>
        <p:nvSpPr>
          <p:cNvPr id="21" name="Oval 20"/>
          <p:cNvSpPr/>
          <p:nvPr/>
        </p:nvSpPr>
        <p:spPr>
          <a:xfrm>
            <a:off x="11475720" y="6053328"/>
            <a:ext cx="384048" cy="384048"/>
          </a:xfrm>
          <a:prstGeom prst="ellipse">
            <a:avLst/>
          </a:prstGeom>
          <a:solidFill>
            <a:srgbClr val="D1ED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8FCDB3"/>
          </a:solidFill>
          <a:ln w="12700">
            <a:solidFill>
              <a:srgbClr val="A0BEAC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9875520" y="-1645920"/>
            <a:ext cx="4114800" cy="4114800"/>
          </a:xfrm>
          <a:prstGeom prst="ellipse">
            <a:avLst/>
          </a:prstGeom>
          <a:solidFill>
            <a:srgbClr val="E9F8F2"/>
          </a:solidFill>
          <a:ln w="12700">
            <a:solidFill>
              <a:srgbClr val="EDF3F0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10789920" y="-731520"/>
            <a:ext cx="2194560" cy="2194560"/>
          </a:xfrm>
          <a:prstGeom prst="ellipse">
            <a:avLst/>
          </a:prstGeom>
          <a:solidFill>
            <a:srgbClr val="E9F3FB"/>
          </a:solidFill>
          <a:ln w="12700">
            <a:solidFill>
              <a:srgbClr val="E4E9F7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02920" y="6327648"/>
            <a:ext cx="11064240" cy="0"/>
          </a:xfrm>
          <a:prstGeom prst="line">
            <a:avLst/>
          </a:prstGeom>
          <a:solidFill>
            <a:srgbClr val="F9FCFD"/>
          </a:solidFill>
          <a:ln w="12700">
            <a:solidFill>
              <a:srgbClr val="1B344B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30352" y="283464"/>
            <a:ext cx="64008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30" kern="0" dirty="0">
                <a:solidFill>
                  <a:srgbClr val="137F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ANDROID  /  JAVA  /  MOBILE DEVELOPMENT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30352" y="731520"/>
            <a:ext cx="10744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735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Alur pembuatan aplikasi secara utuh</a:t>
            </a:r>
            <a:endParaRPr lang="en-US" sz="2900" dirty="0"/>
          </a:p>
        </p:txBody>
      </p:sp>
      <p:sp>
        <p:nvSpPr>
          <p:cNvPr id="8" name="Text 6"/>
          <p:cNvSpPr/>
          <p:nvPr/>
        </p:nvSpPr>
        <p:spPr>
          <a:xfrm>
            <a:off x="539496" y="1389888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870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Keenam bab membentuk urutan keterampilan yang saling terkait.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48640" y="6483096"/>
            <a:ext cx="8229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5870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SINTESIS BAB 1–6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11128248" y="6446520"/>
            <a:ext cx="5029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137F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23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58368" y="1901952"/>
            <a:ext cx="3547872" cy="1408176"/>
          </a:xfrm>
          <a:prstGeom prst="roundRect">
            <a:avLst/>
          </a:prstGeom>
          <a:solidFill>
            <a:srgbClr val="F9FCFD"/>
          </a:solidFill>
          <a:ln w="12700">
            <a:solidFill>
              <a:srgbClr val="1B344B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832104" y="2121408"/>
            <a:ext cx="50292" cy="320040"/>
          </a:xfrm>
          <a:prstGeom prst="rect">
            <a:avLst/>
          </a:prstGeom>
          <a:solidFill>
            <a:srgbClr val="137F69"/>
          </a:solidFill>
          <a:ln w="12700">
            <a:solidFill>
              <a:srgbClr val="467E73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1014984" y="2103120"/>
            <a:ext cx="29809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37F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  Setup Android Studio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914400" y="2606040"/>
            <a:ext cx="30449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735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Tahapan pengembangan aplikasi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4480560" y="1901952"/>
            <a:ext cx="3547872" cy="1408176"/>
          </a:xfrm>
          <a:prstGeom prst="roundRect">
            <a:avLst/>
          </a:prstGeom>
          <a:solidFill>
            <a:srgbClr val="F9FCFD"/>
          </a:solidFill>
          <a:ln w="12700">
            <a:solidFill>
              <a:srgbClr val="1B344B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4654296" y="2121408"/>
            <a:ext cx="50292" cy="320040"/>
          </a:xfrm>
          <a:prstGeom prst="rect">
            <a:avLst/>
          </a:prstGeom>
          <a:solidFill>
            <a:srgbClr val="137F69"/>
          </a:solidFill>
          <a:ln w="12700">
            <a:solidFill>
              <a:srgbClr val="467E73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4837176" y="2103120"/>
            <a:ext cx="29809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37F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  Bangun Activity + navigasi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4736592" y="2606040"/>
            <a:ext cx="30449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735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Tahapan pengembangan aplikasi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8302752" y="1901952"/>
            <a:ext cx="3547872" cy="1408176"/>
          </a:xfrm>
          <a:prstGeom prst="roundRect">
            <a:avLst/>
          </a:prstGeom>
          <a:solidFill>
            <a:srgbClr val="F9FCFD"/>
          </a:solidFill>
          <a:ln w="12700">
            <a:solidFill>
              <a:srgbClr val="1B344B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8476488" y="2121408"/>
            <a:ext cx="50292" cy="320040"/>
          </a:xfrm>
          <a:prstGeom prst="rect">
            <a:avLst/>
          </a:prstGeom>
          <a:solidFill>
            <a:srgbClr val="137F69"/>
          </a:solidFill>
          <a:ln w="12700">
            <a:solidFill>
              <a:srgbClr val="467E73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8659368" y="2103120"/>
            <a:ext cx="29809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37F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 Desain UI/UX dan daftar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8558784" y="2606040"/>
            <a:ext cx="30449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735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Tahapan pengembangan aplikasi</a:t>
            </a:r>
            <a:endParaRPr lang="en-US" sz="1450" dirty="0"/>
          </a:p>
        </p:txBody>
      </p:sp>
      <p:sp>
        <p:nvSpPr>
          <p:cNvPr id="23" name="Shape 21"/>
          <p:cNvSpPr/>
          <p:nvPr/>
        </p:nvSpPr>
        <p:spPr>
          <a:xfrm>
            <a:off x="658368" y="3621024"/>
            <a:ext cx="3547872" cy="1408176"/>
          </a:xfrm>
          <a:prstGeom prst="roundRect">
            <a:avLst/>
          </a:prstGeom>
          <a:solidFill>
            <a:srgbClr val="F9FCFD"/>
          </a:solidFill>
          <a:ln w="12700">
            <a:solidFill>
              <a:srgbClr val="1B344B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832104" y="3840480"/>
            <a:ext cx="50292" cy="320040"/>
          </a:xfrm>
          <a:prstGeom prst="rect">
            <a:avLst/>
          </a:prstGeom>
          <a:solidFill>
            <a:srgbClr val="1586C9"/>
          </a:solidFill>
          <a:ln w="12700">
            <a:solidFill>
              <a:srgbClr val="54B6F3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1014984" y="3822192"/>
            <a:ext cx="29809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586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  Kelola tugas + notifikasi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914400" y="4325112"/>
            <a:ext cx="30449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735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Tahapan pengembangan aplikasi</a:t>
            </a:r>
            <a:endParaRPr lang="en-US" sz="1450" dirty="0"/>
          </a:p>
        </p:txBody>
      </p:sp>
      <p:sp>
        <p:nvSpPr>
          <p:cNvPr id="27" name="Shape 25"/>
          <p:cNvSpPr/>
          <p:nvPr/>
        </p:nvSpPr>
        <p:spPr>
          <a:xfrm>
            <a:off x="4480560" y="3621024"/>
            <a:ext cx="3547872" cy="1408176"/>
          </a:xfrm>
          <a:prstGeom prst="roundRect">
            <a:avLst/>
          </a:prstGeom>
          <a:solidFill>
            <a:srgbClr val="F9FCFD"/>
          </a:solidFill>
          <a:ln w="12700">
            <a:solidFill>
              <a:srgbClr val="1B344B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4654296" y="3840480"/>
            <a:ext cx="50292" cy="320040"/>
          </a:xfrm>
          <a:prstGeom prst="rect">
            <a:avLst/>
          </a:prstGeom>
          <a:solidFill>
            <a:srgbClr val="1586C9"/>
          </a:solidFill>
          <a:ln w="12700">
            <a:solidFill>
              <a:srgbClr val="54B6F3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4837176" y="3822192"/>
            <a:ext cx="29809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586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  Simpan data lokal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4736592" y="4325112"/>
            <a:ext cx="30449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735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Tahapan pengembangan aplikasi</a:t>
            </a:r>
            <a:endParaRPr lang="en-US" sz="1450" dirty="0"/>
          </a:p>
        </p:txBody>
      </p:sp>
      <p:sp>
        <p:nvSpPr>
          <p:cNvPr id="31" name="Shape 29"/>
          <p:cNvSpPr/>
          <p:nvPr/>
        </p:nvSpPr>
        <p:spPr>
          <a:xfrm>
            <a:off x="8302752" y="3621024"/>
            <a:ext cx="3547872" cy="1408176"/>
          </a:xfrm>
          <a:prstGeom prst="roundRect">
            <a:avLst/>
          </a:prstGeom>
          <a:solidFill>
            <a:srgbClr val="F9FCFD"/>
          </a:solidFill>
          <a:ln w="12700">
            <a:solidFill>
              <a:srgbClr val="1B344B"/>
            </a:solidFill>
            <a:prstDash val="solid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8476488" y="3840480"/>
            <a:ext cx="50292" cy="320040"/>
          </a:xfrm>
          <a:prstGeom prst="rect">
            <a:avLst/>
          </a:prstGeom>
          <a:solidFill>
            <a:srgbClr val="1586C9"/>
          </a:solidFill>
          <a:ln w="12700">
            <a:solidFill>
              <a:srgbClr val="54B6F3"/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8659368" y="3822192"/>
            <a:ext cx="29809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586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  Sinkronkan data Firebase</a:t>
            </a:r>
            <a:endParaRPr lang="en-US" sz="1700" dirty="0"/>
          </a:p>
        </p:txBody>
      </p:sp>
      <p:sp>
        <p:nvSpPr>
          <p:cNvPr id="34" name="Text 32"/>
          <p:cNvSpPr/>
          <p:nvPr/>
        </p:nvSpPr>
        <p:spPr>
          <a:xfrm>
            <a:off x="8558784" y="4325112"/>
            <a:ext cx="30449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735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Tahapan pengembangan aplikasi</a:t>
            </a:r>
            <a:endParaRPr lang="en-US" sz="1450" dirty="0"/>
          </a:p>
        </p:txBody>
      </p:sp>
      <p:sp>
        <p:nvSpPr>
          <p:cNvPr id="35" name="Oval 34"/>
          <p:cNvSpPr/>
          <p:nvPr/>
        </p:nvSpPr>
        <p:spPr>
          <a:xfrm>
            <a:off x="11475720" y="6053328"/>
            <a:ext cx="384048" cy="384048"/>
          </a:xfrm>
          <a:prstGeom prst="ellipse">
            <a:avLst/>
          </a:prstGeom>
          <a:solidFill>
            <a:srgbClr val="D1ED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8FCDB3"/>
          </a:solidFill>
          <a:ln w="12700">
            <a:solidFill>
              <a:srgbClr val="A0BEAC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9875520" y="-1645920"/>
            <a:ext cx="4114800" cy="4114800"/>
          </a:xfrm>
          <a:prstGeom prst="ellipse">
            <a:avLst/>
          </a:prstGeom>
          <a:solidFill>
            <a:srgbClr val="E9F8F2"/>
          </a:solidFill>
          <a:ln w="12700">
            <a:solidFill>
              <a:srgbClr val="EDF3F0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10789920" y="-731520"/>
            <a:ext cx="2194560" cy="2194560"/>
          </a:xfrm>
          <a:prstGeom prst="ellipse">
            <a:avLst/>
          </a:prstGeom>
          <a:solidFill>
            <a:srgbClr val="E9F3FB"/>
          </a:solidFill>
          <a:ln w="12700">
            <a:solidFill>
              <a:srgbClr val="E4E9F7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02920" y="6327648"/>
            <a:ext cx="11064240" cy="0"/>
          </a:xfrm>
          <a:prstGeom prst="line">
            <a:avLst/>
          </a:prstGeom>
          <a:solidFill>
            <a:srgbClr val="F9FCFD"/>
          </a:solidFill>
          <a:ln w="12700">
            <a:solidFill>
              <a:srgbClr val="1B344B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30352" y="283464"/>
            <a:ext cx="64008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30" kern="0" dirty="0">
                <a:solidFill>
                  <a:srgbClr val="137F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ANDROID  /  JAVA  /  MOBILE DEVELOPMENT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30352" y="731520"/>
            <a:ext cx="10744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735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Kesimpulan utama</a:t>
            </a:r>
            <a:endParaRPr lang="en-US" sz="2900" dirty="0"/>
          </a:p>
        </p:txBody>
      </p:sp>
      <p:sp>
        <p:nvSpPr>
          <p:cNvPr id="8" name="Text 6"/>
          <p:cNvSpPr/>
          <p:nvPr/>
        </p:nvSpPr>
        <p:spPr>
          <a:xfrm>
            <a:off x="539496" y="1389888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870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Pengembangan Android menggabungkan logika, antarmuka, manajemen proses, dan pengelolaan data.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48640" y="6483096"/>
            <a:ext cx="8229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5870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KESIMPULAN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11128248" y="6446520"/>
            <a:ext cx="5029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137F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24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822960" y="2103120"/>
            <a:ext cx="109728" cy="109728"/>
          </a:xfrm>
          <a:prstGeom prst="ellipse">
            <a:avLst/>
          </a:prstGeom>
          <a:solidFill>
            <a:srgbClr val="8FCDB3"/>
          </a:solidFill>
          <a:ln w="12700">
            <a:solidFill>
              <a:srgbClr val="A0BEAC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1115568" y="2011680"/>
            <a:ext cx="10314432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735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Bab 1 menyiapkan landasan sistem Android dan lingkungan kerja.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822960" y="2724912"/>
            <a:ext cx="109728" cy="109728"/>
          </a:xfrm>
          <a:prstGeom prst="ellipse">
            <a:avLst/>
          </a:prstGeom>
          <a:solidFill>
            <a:srgbClr val="8FCDB3"/>
          </a:solidFill>
          <a:ln w="12700">
            <a:solidFill>
              <a:srgbClr val="A0BEAC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1115568" y="2633472"/>
            <a:ext cx="10314432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735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Bab 2 menjelaskan Activity, Intent, Fragment, serta perpindahan data.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822960" y="3346704"/>
            <a:ext cx="109728" cy="109728"/>
          </a:xfrm>
          <a:prstGeom prst="ellipse">
            <a:avLst/>
          </a:prstGeom>
          <a:solidFill>
            <a:srgbClr val="8FCDB3"/>
          </a:solidFill>
          <a:ln w="12700">
            <a:solidFill>
              <a:srgbClr val="A0BEAC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1115568" y="3255264"/>
            <a:ext cx="10314432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735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Bab 3 menguatkan perancangan tampilan dan pengalaman pengguna.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822960" y="3968496"/>
            <a:ext cx="109728" cy="109728"/>
          </a:xfrm>
          <a:prstGeom prst="ellipse">
            <a:avLst/>
          </a:prstGeom>
          <a:solidFill>
            <a:srgbClr val="8FCDB3"/>
          </a:solidFill>
          <a:ln w="12700">
            <a:solidFill>
              <a:srgbClr val="A0BEAC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1115568" y="3877056"/>
            <a:ext cx="10314432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735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Bab 4 membahas penjadwalan tugas serta notifikasi.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822960" y="4590288"/>
            <a:ext cx="109728" cy="109728"/>
          </a:xfrm>
          <a:prstGeom prst="ellipse">
            <a:avLst/>
          </a:prstGeom>
          <a:solidFill>
            <a:srgbClr val="8FCDB3"/>
          </a:solidFill>
          <a:ln w="12700">
            <a:solidFill>
              <a:srgbClr val="A0BEAC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1115568" y="4498848"/>
            <a:ext cx="10314432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735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Bab 5–6 menghubungkan penyimpanan lokal dengan cloud Firebase.</a:t>
            </a:r>
            <a:endParaRPr lang="en-US" sz="1800" dirty="0"/>
          </a:p>
        </p:txBody>
      </p:sp>
      <p:sp>
        <p:nvSpPr>
          <p:cNvPr id="21" name="Oval 20"/>
          <p:cNvSpPr/>
          <p:nvPr/>
        </p:nvSpPr>
        <p:spPr>
          <a:xfrm>
            <a:off x="11475720" y="6053328"/>
            <a:ext cx="384048" cy="384048"/>
          </a:xfrm>
          <a:prstGeom prst="ellipse">
            <a:avLst/>
          </a:prstGeom>
          <a:solidFill>
            <a:srgbClr val="D1ED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8FCDB3"/>
          </a:solidFill>
          <a:ln w="12700">
            <a:solidFill>
              <a:srgbClr val="A0BEAC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9875520" y="-1645920"/>
            <a:ext cx="4114800" cy="4114800"/>
          </a:xfrm>
          <a:prstGeom prst="ellipse">
            <a:avLst/>
          </a:prstGeom>
          <a:solidFill>
            <a:srgbClr val="E9F8F2"/>
          </a:solidFill>
          <a:ln w="12700">
            <a:solidFill>
              <a:srgbClr val="EDF3F0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10789920" y="-731520"/>
            <a:ext cx="2194560" cy="2194560"/>
          </a:xfrm>
          <a:prstGeom prst="ellipse">
            <a:avLst/>
          </a:prstGeom>
          <a:solidFill>
            <a:srgbClr val="E9F3FB"/>
          </a:solidFill>
          <a:ln w="12700">
            <a:solidFill>
              <a:srgbClr val="E4E9F7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02920" y="6327648"/>
            <a:ext cx="11064240" cy="0"/>
          </a:xfrm>
          <a:prstGeom prst="line">
            <a:avLst/>
          </a:prstGeom>
          <a:solidFill>
            <a:srgbClr val="F9FCFD"/>
          </a:solidFill>
          <a:ln w="12700">
            <a:solidFill>
              <a:srgbClr val="1B344B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30352" y="283464"/>
            <a:ext cx="64008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30" kern="0" dirty="0">
                <a:solidFill>
                  <a:srgbClr val="137F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ANDROID  /  JAVA  /  MOBILE DEVELOPMENT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30352" y="731520"/>
            <a:ext cx="10744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735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Referensi modul</a:t>
            </a:r>
            <a:endParaRPr lang="en-US" sz="2900" dirty="0"/>
          </a:p>
        </p:txBody>
      </p:sp>
      <p:sp>
        <p:nvSpPr>
          <p:cNvPr id="8" name="Text 6"/>
          <p:cNvSpPr/>
          <p:nvPr/>
        </p:nvSpPr>
        <p:spPr>
          <a:xfrm>
            <a:off x="539496" y="1389888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870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Seluruh ringkasan disusun dari enam PDF yang diberikan.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48640" y="6483096"/>
            <a:ext cx="8229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5870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SUMBER MATERI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11128248" y="6446520"/>
            <a:ext cx="5029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137F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25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58952" y="1965960"/>
            <a:ext cx="10698480" cy="3319272"/>
          </a:xfrm>
          <a:prstGeom prst="roundRect">
            <a:avLst/>
          </a:prstGeom>
          <a:solidFill>
            <a:srgbClr val="F9FCFD"/>
          </a:solidFill>
          <a:ln w="12700">
            <a:solidFill>
              <a:srgbClr val="1B344B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932688" y="2185416"/>
            <a:ext cx="50292" cy="320040"/>
          </a:xfrm>
          <a:prstGeom prst="rect">
            <a:avLst/>
          </a:prstGeom>
          <a:solidFill>
            <a:srgbClr val="137F69"/>
          </a:solidFill>
          <a:ln w="12700">
            <a:solidFill>
              <a:srgbClr val="467E73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1115568" y="2167128"/>
            <a:ext cx="10131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37F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Rujukan utama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014984" y="2670048"/>
            <a:ext cx="10195560" cy="2496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735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Susanti, Erma. (2020). Pemrograman Mobile Android dengan Java.</a:t>
            </a:r>
            <a:endParaRPr lang="en-US" sz="1450" dirty="0"/>
          </a:p>
          <a:p>
            <a:pPr indent="0" marL="0">
              <a:buNone/>
            </a:pP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1735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Modul 1: Pengenalan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1735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Modul 2: Komponen-komponen Dasar Android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1735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Modul 3: UI/UX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1735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Modul 4: Background Task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1735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Modul 5: Penyimpanan Data Internal dan Eksternal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1735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Modul 6: Penyimpanan Data Eksternal Firebase</a:t>
            </a:r>
            <a:endParaRPr lang="en-US" sz="1450" dirty="0"/>
          </a:p>
        </p:txBody>
      </p:sp>
      <p:sp>
        <p:nvSpPr>
          <p:cNvPr id="15" name="Oval 14"/>
          <p:cNvSpPr/>
          <p:nvPr/>
        </p:nvSpPr>
        <p:spPr>
          <a:xfrm>
            <a:off x="11475720" y="6053328"/>
            <a:ext cx="384048" cy="384048"/>
          </a:xfrm>
          <a:prstGeom prst="ellipse">
            <a:avLst/>
          </a:prstGeom>
          <a:solidFill>
            <a:srgbClr val="D1ED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Rangkuman Pemrograman Mobile Android dengan Java</dc:title>
  <dc:subject>Rangkuman modul 1 sampai 6 pemrograman mobile Android dengan Java</dc:subject>
  <dc:creator>OpenAI</dc:creator>
  <cp:lastModifiedBy>OpenAI</cp:lastModifiedBy>
  <cp:revision>1</cp:revision>
  <dcterms:created xsi:type="dcterms:W3CDTF">2026-10-24T14:39:47Z</dcterms:created>
  <dcterms:modified xsi:type="dcterms:W3CDTF">2026-10-24T14:39:47Z</dcterms:modified>
</cp:coreProperties>
</file>